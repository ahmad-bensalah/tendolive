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8.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8.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8.jpg"/><Relationship Id="rId5"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8.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8.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8.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8.jpg"/><Relationship Id="rId5"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8.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8.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8.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8.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8.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1.png"/><Relationship Id="rId4" Type="http://schemas.openxmlformats.org/officeDocument/2006/relationships/image" Target="../media/image12.jp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png"/><Relationship Id="rId9" Type="http://schemas.openxmlformats.org/officeDocument/2006/relationships/image" Target="../media/image17.png"/><Relationship Id="rId10" Type="http://schemas.openxmlformats.org/officeDocument/2006/relationships/image" Target="../media/image18.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999" cy="6858000"/>
          </a:xfrm>
          <a:prstGeom prst="rect">
            <a:avLst/>
          </a:prstGeom>
        </p:spPr>
      </p:pic>
      <p:pic>
        <p:nvPicPr>
          <p:cNvPr id="3" name="Picture 2" descr="image.png"/>
          <p:cNvPicPr>
            <a:picLocks noChangeAspect="1"/>
          </p:cNvPicPr>
          <p:nvPr/>
        </p:nvPicPr>
        <p:blipFill>
          <a:blip r:embed="rId3"/>
          <a:stretch>
            <a:fillRect/>
          </a:stretch>
        </p:blipFill>
        <p:spPr>
          <a:xfrm>
            <a:off x="571499" y="3975100"/>
            <a:ext cx="1371599" cy="31750"/>
          </a:xfrm>
          <a:prstGeom prst="rect">
            <a:avLst/>
          </a:prstGeom>
        </p:spPr>
      </p:pic>
      <p:pic>
        <p:nvPicPr>
          <p:cNvPr id="4" name="Picture 3" descr="image.png"/>
          <p:cNvPicPr>
            <a:picLocks noChangeAspect="1"/>
          </p:cNvPicPr>
          <p:nvPr/>
        </p:nvPicPr>
        <p:blipFill>
          <a:blip r:embed="rId4"/>
          <a:stretch>
            <a:fillRect/>
          </a:stretch>
        </p:blipFill>
        <p:spPr>
          <a:xfrm>
            <a:off x="552449" y="508000"/>
            <a:ext cx="2285999" cy="622299"/>
          </a:xfrm>
          <a:prstGeom prst="rect">
            <a:avLst/>
          </a:prstGeom>
        </p:spPr>
      </p:pic>
      <p:sp>
        <p:nvSpPr>
          <p:cNvPr id="5" name="TextBox 4"/>
          <p:cNvSpPr txBox="1"/>
          <p:nvPr/>
        </p:nvSpPr>
        <p:spPr>
          <a:xfrm>
            <a:off x="476249" y="2000250"/>
            <a:ext cx="9524999" cy="2006599"/>
          </a:xfrm>
          <a:prstGeom prst="rect">
            <a:avLst/>
          </a:prstGeom>
          <a:noFill/>
        </p:spPr>
        <p:txBody>
          <a:bodyPr wrap="square" lIns="45720" rIns="45720">
            <a:spAutoFit/>
          </a:bodyPr>
          <a:lstStyle/>
          <a:p>
            <a:pPr algn="l">
              <a:lnSpc>
                <a:spcPct val="120000"/>
              </a:lnSpc>
              <a:defRPr sz="6000" b="1" i="0" u="none">
                <a:solidFill>
                  <a:srgbClr val="010B49"/>
                </a:solidFill>
                <a:latin typeface="Carlito"/>
              </a:defRPr>
            </a:pPr>
            <a:r>
              <a:t>RFP : Tableau de bord décisionnel des indicateurs de santé publique</a:t>
            </a:r>
          </a:p>
        </p:txBody>
      </p:sp>
      <p:sp>
        <p:nvSpPr>
          <p:cNvPr id="6" name="TextBox 5"/>
          <p:cNvSpPr txBox="1"/>
          <p:nvPr/>
        </p:nvSpPr>
        <p:spPr>
          <a:xfrm>
            <a:off x="495299" y="3486150"/>
            <a:ext cx="9524999" cy="368299"/>
          </a:xfrm>
          <a:prstGeom prst="rect">
            <a:avLst/>
          </a:prstGeom>
          <a:noFill/>
        </p:spPr>
        <p:txBody>
          <a:bodyPr wrap="square" lIns="45720" rIns="45720">
            <a:spAutoFit/>
          </a:bodyPr>
          <a:lstStyle/>
          <a:p>
            <a:pPr algn="l">
              <a:lnSpc>
                <a:spcPct val="120000"/>
              </a:lnSpc>
              <a:defRPr sz="2250" b="1" i="0" u="none">
                <a:solidFill>
                  <a:srgbClr val="2273F4"/>
                </a:solidFill>
                <a:latin typeface="Carlito"/>
              </a:defRPr>
            </a:pPr>
            <a:r>
              <a:t>Direction Régionale de la Santé de Sampleville (démo)</a:t>
            </a:r>
          </a:p>
        </p:txBody>
      </p:sp>
      <p:sp>
        <p:nvSpPr>
          <p:cNvPr id="7" name="TextBox 6"/>
          <p:cNvSpPr txBox="1"/>
          <p:nvPr/>
        </p:nvSpPr>
        <p:spPr>
          <a:xfrm>
            <a:off x="495299" y="4432300"/>
            <a:ext cx="9524999" cy="380999"/>
          </a:xfrm>
          <a:prstGeom prst="rect">
            <a:avLst/>
          </a:prstGeom>
          <a:noFill/>
        </p:spPr>
        <p:txBody>
          <a:bodyPr wrap="square" lIns="45720" rIns="45720">
            <a:spAutoFit/>
          </a:bodyPr>
          <a:lstStyle/>
          <a:p>
            <a:pPr algn="l">
              <a:lnSpc>
                <a:spcPct val="120000"/>
              </a:lnSpc>
              <a:defRPr sz="2400" b="0" i="0" u="none">
                <a:solidFill>
                  <a:srgbClr val="6B7280"/>
                </a:solidFill>
                <a:latin typeface="Carlito"/>
              </a:defRPr>
            </a:pPr>
            <a:r>
              <a:t>20 octobre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999" cy="6858000"/>
          </a:xfrm>
          <a:prstGeom prst="rect">
            <a:avLst/>
          </a:prstGeom>
        </p:spPr>
      </p:pic>
      <p:pic>
        <p:nvPicPr>
          <p:cNvPr id="3" name="Picture 2" descr="image.png"/>
          <p:cNvPicPr>
            <a:picLocks noChangeAspect="1"/>
          </p:cNvPicPr>
          <p:nvPr/>
        </p:nvPicPr>
        <p:blipFill>
          <a:blip r:embed="rId3"/>
          <a:stretch>
            <a:fillRect/>
          </a:stretch>
        </p:blipFill>
        <p:spPr>
          <a:xfrm>
            <a:off x="2882899" y="1676400"/>
            <a:ext cx="565149" cy="565149"/>
          </a:xfrm>
          <a:prstGeom prst="rect">
            <a:avLst/>
          </a:prstGeom>
        </p:spPr>
      </p:pic>
      <p:pic>
        <p:nvPicPr>
          <p:cNvPr id="4" name="Picture 3" descr="image.png"/>
          <p:cNvPicPr>
            <a:picLocks noChangeAspect="1"/>
          </p:cNvPicPr>
          <p:nvPr/>
        </p:nvPicPr>
        <p:blipFill>
          <a:blip r:embed="rId3"/>
          <a:stretch>
            <a:fillRect/>
          </a:stretch>
        </p:blipFill>
        <p:spPr>
          <a:xfrm>
            <a:off x="2882899" y="2514600"/>
            <a:ext cx="565149" cy="565149"/>
          </a:xfrm>
          <a:prstGeom prst="rect">
            <a:avLst/>
          </a:prstGeom>
        </p:spPr>
      </p:pic>
      <p:pic>
        <p:nvPicPr>
          <p:cNvPr id="5" name="Picture 4" descr="image.png"/>
          <p:cNvPicPr>
            <a:picLocks noChangeAspect="1"/>
          </p:cNvPicPr>
          <p:nvPr/>
        </p:nvPicPr>
        <p:blipFill>
          <a:blip r:embed="rId3"/>
          <a:stretch>
            <a:fillRect/>
          </a:stretch>
        </p:blipFill>
        <p:spPr>
          <a:xfrm>
            <a:off x="2882899" y="3352800"/>
            <a:ext cx="565149" cy="565149"/>
          </a:xfrm>
          <a:prstGeom prst="rect">
            <a:avLst/>
          </a:prstGeom>
        </p:spPr>
      </p:pic>
      <p:pic>
        <p:nvPicPr>
          <p:cNvPr id="6" name="Picture 5" descr="image.png"/>
          <p:cNvPicPr>
            <a:picLocks noChangeAspect="1"/>
          </p:cNvPicPr>
          <p:nvPr/>
        </p:nvPicPr>
        <p:blipFill>
          <a:blip r:embed="rId3"/>
          <a:stretch>
            <a:fillRect/>
          </a:stretch>
        </p:blipFill>
        <p:spPr>
          <a:xfrm>
            <a:off x="2882899" y="4190999"/>
            <a:ext cx="565149" cy="565149"/>
          </a:xfrm>
          <a:prstGeom prst="rect">
            <a:avLst/>
          </a:prstGeom>
        </p:spPr>
      </p:pic>
      <p:pic>
        <p:nvPicPr>
          <p:cNvPr id="7" name="Picture 6" descr="image.png"/>
          <p:cNvPicPr>
            <a:picLocks noChangeAspect="1"/>
          </p:cNvPicPr>
          <p:nvPr/>
        </p:nvPicPr>
        <p:blipFill>
          <a:blip r:embed="rId3"/>
          <a:stretch>
            <a:fillRect/>
          </a:stretch>
        </p:blipFill>
        <p:spPr>
          <a:xfrm>
            <a:off x="2882899" y="5029200"/>
            <a:ext cx="565149" cy="565149"/>
          </a:xfrm>
          <a:prstGeom prst="rect">
            <a:avLst/>
          </a:prstGeom>
        </p:spPr>
      </p:pic>
      <p:pic>
        <p:nvPicPr>
          <p:cNvPr id="8" name="Picture 7" descr="image.png"/>
          <p:cNvPicPr>
            <a:picLocks noChangeAspect="1"/>
          </p:cNvPicPr>
          <p:nvPr/>
        </p:nvPicPr>
        <p:blipFill>
          <a:blip r:embed="rId4"/>
          <a:stretch>
            <a:fillRect/>
          </a:stretch>
        </p:blipFill>
        <p:spPr>
          <a:xfrm>
            <a:off x="5524499" y="6349999"/>
            <a:ext cx="1142999" cy="311149"/>
          </a:xfrm>
          <a:prstGeom prst="rect">
            <a:avLst/>
          </a:prstGeom>
        </p:spPr>
      </p:pic>
      <p:sp>
        <p:nvSpPr>
          <p:cNvPr id="9" name="TextBox 8"/>
          <p:cNvSpPr txBox="1"/>
          <p:nvPr/>
        </p:nvSpPr>
        <p:spPr>
          <a:xfrm>
            <a:off x="4972049" y="698500"/>
            <a:ext cx="2514599" cy="577850"/>
          </a:xfrm>
          <a:prstGeom prst="rect">
            <a:avLst/>
          </a:prstGeom>
          <a:noFill/>
        </p:spPr>
        <p:txBody>
          <a:bodyPr wrap="square" lIns="45720" rIns="45720">
            <a:spAutoFit/>
          </a:bodyPr>
          <a:lstStyle/>
          <a:p>
            <a:pPr algn="l">
              <a:lnSpc>
                <a:spcPct val="120000"/>
              </a:lnSpc>
              <a:defRPr sz="4500" b="1" i="0" u="none">
                <a:solidFill>
                  <a:srgbClr val="010B49"/>
                </a:solidFill>
                <a:latin typeface="Arial"/>
              </a:defRPr>
            </a:pPr>
            <a:r>
              <a:t>SOMMAIRE</a:t>
            </a:r>
          </a:p>
        </p:txBody>
      </p:sp>
      <p:sp>
        <p:nvSpPr>
          <p:cNvPr id="10" name="TextBox 9"/>
          <p:cNvSpPr txBox="1"/>
          <p:nvPr/>
        </p:nvSpPr>
        <p:spPr>
          <a:xfrm>
            <a:off x="3041649" y="1797050"/>
            <a:ext cx="311149" cy="330200"/>
          </a:xfrm>
          <a:prstGeom prst="rect">
            <a:avLst/>
          </a:prstGeom>
          <a:noFill/>
        </p:spPr>
        <p:txBody>
          <a:bodyPr wrap="square" lIns="45720" rIns="45720">
            <a:spAutoFit/>
          </a:bodyPr>
          <a:lstStyle/>
          <a:p>
            <a:pPr algn="l">
              <a:lnSpc>
                <a:spcPct val="120000"/>
              </a:lnSpc>
              <a:defRPr sz="2250" b="1" i="0" u="none">
                <a:solidFill>
                  <a:srgbClr val="FFFFFF"/>
                </a:solidFill>
                <a:latin typeface="Carlito"/>
              </a:defRPr>
            </a:pPr>
            <a:r>
              <a:t>1</a:t>
            </a:r>
          </a:p>
        </p:txBody>
      </p:sp>
      <p:sp>
        <p:nvSpPr>
          <p:cNvPr id="11" name="TextBox 10"/>
          <p:cNvSpPr txBox="1"/>
          <p:nvPr/>
        </p:nvSpPr>
        <p:spPr>
          <a:xfrm>
            <a:off x="3625849" y="1803400"/>
            <a:ext cx="8058149" cy="342900"/>
          </a:xfrm>
          <a:prstGeom prst="rect">
            <a:avLst/>
          </a:prstGeom>
          <a:noFill/>
        </p:spPr>
        <p:txBody>
          <a:bodyPr wrap="square" lIns="45720" rIns="45720">
            <a:spAutoFit/>
          </a:bodyPr>
          <a:lstStyle/>
          <a:p>
            <a:pPr algn="l">
              <a:lnSpc>
                <a:spcPct val="115000"/>
              </a:lnSpc>
              <a:defRPr sz="2100" b="1" i="0" u="none">
                <a:solidFill>
                  <a:srgbClr val="545454"/>
                </a:solidFill>
                <a:latin typeface="Carlito"/>
              </a:defRPr>
            </a:pPr>
            <a:r>
              <a:t>Synthèse et besoins</a:t>
            </a:r>
          </a:p>
        </p:txBody>
      </p:sp>
      <p:sp>
        <p:nvSpPr>
          <p:cNvPr id="12" name="TextBox 11"/>
          <p:cNvSpPr txBox="1"/>
          <p:nvPr/>
        </p:nvSpPr>
        <p:spPr>
          <a:xfrm>
            <a:off x="3041649" y="2628900"/>
            <a:ext cx="311149" cy="330200"/>
          </a:xfrm>
          <a:prstGeom prst="rect">
            <a:avLst/>
          </a:prstGeom>
          <a:noFill/>
        </p:spPr>
        <p:txBody>
          <a:bodyPr wrap="square" lIns="45720" rIns="45720">
            <a:spAutoFit/>
          </a:bodyPr>
          <a:lstStyle/>
          <a:p>
            <a:pPr algn="l">
              <a:lnSpc>
                <a:spcPct val="120000"/>
              </a:lnSpc>
              <a:defRPr sz="2250" b="1" i="0" u="none">
                <a:solidFill>
                  <a:srgbClr val="FFFFFF"/>
                </a:solidFill>
                <a:latin typeface="Carlito"/>
              </a:defRPr>
            </a:pPr>
            <a:r>
              <a:t>2</a:t>
            </a:r>
          </a:p>
        </p:txBody>
      </p:sp>
      <p:sp>
        <p:nvSpPr>
          <p:cNvPr id="13" name="TextBox 12"/>
          <p:cNvSpPr txBox="1"/>
          <p:nvPr/>
        </p:nvSpPr>
        <p:spPr>
          <a:xfrm>
            <a:off x="3625849" y="2641600"/>
            <a:ext cx="8058149" cy="342900"/>
          </a:xfrm>
          <a:prstGeom prst="rect">
            <a:avLst/>
          </a:prstGeom>
          <a:noFill/>
        </p:spPr>
        <p:txBody>
          <a:bodyPr wrap="square" lIns="45720" rIns="45720">
            <a:spAutoFit/>
          </a:bodyPr>
          <a:lstStyle/>
          <a:p>
            <a:pPr algn="l">
              <a:lnSpc>
                <a:spcPct val="115000"/>
              </a:lnSpc>
              <a:defRPr sz="2100" b="1" i="0" u="none">
                <a:solidFill>
                  <a:srgbClr val="545454"/>
                </a:solidFill>
                <a:latin typeface="Carlito"/>
              </a:defRPr>
            </a:pPr>
            <a:r>
              <a:t>Solution et architecture</a:t>
            </a:r>
          </a:p>
        </p:txBody>
      </p:sp>
      <p:sp>
        <p:nvSpPr>
          <p:cNvPr id="14" name="TextBox 13"/>
          <p:cNvSpPr txBox="1"/>
          <p:nvPr/>
        </p:nvSpPr>
        <p:spPr>
          <a:xfrm>
            <a:off x="3041649" y="3467100"/>
            <a:ext cx="311149" cy="330200"/>
          </a:xfrm>
          <a:prstGeom prst="rect">
            <a:avLst/>
          </a:prstGeom>
          <a:noFill/>
        </p:spPr>
        <p:txBody>
          <a:bodyPr wrap="square" lIns="45720" rIns="45720">
            <a:spAutoFit/>
          </a:bodyPr>
          <a:lstStyle/>
          <a:p>
            <a:pPr algn="l">
              <a:lnSpc>
                <a:spcPct val="120000"/>
              </a:lnSpc>
              <a:defRPr sz="2250" b="1" i="0" u="none">
                <a:solidFill>
                  <a:srgbClr val="FFFFFF"/>
                </a:solidFill>
                <a:latin typeface="Carlito"/>
              </a:defRPr>
            </a:pPr>
            <a:r>
              <a:t>3</a:t>
            </a:r>
          </a:p>
        </p:txBody>
      </p:sp>
      <p:sp>
        <p:nvSpPr>
          <p:cNvPr id="15" name="TextBox 14"/>
          <p:cNvSpPr txBox="1"/>
          <p:nvPr/>
        </p:nvSpPr>
        <p:spPr>
          <a:xfrm>
            <a:off x="3625849" y="3479800"/>
            <a:ext cx="8058149" cy="342900"/>
          </a:xfrm>
          <a:prstGeom prst="rect">
            <a:avLst/>
          </a:prstGeom>
          <a:noFill/>
        </p:spPr>
        <p:txBody>
          <a:bodyPr wrap="square" lIns="45720" rIns="45720">
            <a:spAutoFit/>
          </a:bodyPr>
          <a:lstStyle/>
          <a:p>
            <a:pPr algn="l">
              <a:lnSpc>
                <a:spcPct val="115000"/>
              </a:lnSpc>
              <a:defRPr sz="2100" b="1" i="0" u="none">
                <a:solidFill>
                  <a:srgbClr val="545454"/>
                </a:solidFill>
                <a:latin typeface="Carlito"/>
              </a:defRPr>
            </a:pPr>
            <a:r>
              <a:t>Atouts, équipe et références</a:t>
            </a:r>
          </a:p>
        </p:txBody>
      </p:sp>
      <p:sp>
        <p:nvSpPr>
          <p:cNvPr id="16" name="TextBox 15"/>
          <p:cNvSpPr txBox="1"/>
          <p:nvPr/>
        </p:nvSpPr>
        <p:spPr>
          <a:xfrm>
            <a:off x="3041649" y="4305300"/>
            <a:ext cx="311149" cy="330200"/>
          </a:xfrm>
          <a:prstGeom prst="rect">
            <a:avLst/>
          </a:prstGeom>
          <a:noFill/>
        </p:spPr>
        <p:txBody>
          <a:bodyPr wrap="square" lIns="45720" rIns="45720">
            <a:spAutoFit/>
          </a:bodyPr>
          <a:lstStyle/>
          <a:p>
            <a:pPr algn="l">
              <a:lnSpc>
                <a:spcPct val="120000"/>
              </a:lnSpc>
              <a:defRPr sz="2250" b="1" i="0" u="none">
                <a:solidFill>
                  <a:srgbClr val="FFFFFF"/>
                </a:solidFill>
                <a:latin typeface="Carlito"/>
              </a:defRPr>
            </a:pPr>
            <a:r>
              <a:t>4</a:t>
            </a:r>
          </a:p>
        </p:txBody>
      </p:sp>
      <p:sp>
        <p:nvSpPr>
          <p:cNvPr id="17" name="TextBox 16"/>
          <p:cNvSpPr txBox="1"/>
          <p:nvPr/>
        </p:nvSpPr>
        <p:spPr>
          <a:xfrm>
            <a:off x="3625849" y="4318000"/>
            <a:ext cx="8058149" cy="342900"/>
          </a:xfrm>
          <a:prstGeom prst="rect">
            <a:avLst/>
          </a:prstGeom>
          <a:noFill/>
        </p:spPr>
        <p:txBody>
          <a:bodyPr wrap="square" lIns="45720" rIns="45720">
            <a:spAutoFit/>
          </a:bodyPr>
          <a:lstStyle/>
          <a:p>
            <a:pPr algn="l">
              <a:lnSpc>
                <a:spcPct val="115000"/>
              </a:lnSpc>
              <a:defRPr sz="2100" b="1" i="0" u="none">
                <a:solidFill>
                  <a:srgbClr val="545454"/>
                </a:solidFill>
                <a:latin typeface="Carlito"/>
              </a:defRPr>
            </a:pPr>
            <a:r>
              <a:t>Planning et risques</a:t>
            </a:r>
          </a:p>
        </p:txBody>
      </p:sp>
      <p:sp>
        <p:nvSpPr>
          <p:cNvPr id="18" name="TextBox 17"/>
          <p:cNvSpPr txBox="1"/>
          <p:nvPr/>
        </p:nvSpPr>
        <p:spPr>
          <a:xfrm>
            <a:off x="3625849" y="5156200"/>
            <a:ext cx="8058149" cy="342900"/>
          </a:xfrm>
          <a:prstGeom prst="rect">
            <a:avLst/>
          </a:prstGeom>
          <a:noFill/>
        </p:spPr>
        <p:txBody>
          <a:bodyPr wrap="square" lIns="45720" rIns="45720">
            <a:spAutoFit/>
          </a:bodyPr>
          <a:lstStyle/>
          <a:p>
            <a:pPr algn="l">
              <a:lnSpc>
                <a:spcPct val="115000"/>
              </a:lnSpc>
              <a:defRPr sz="2100" b="1" i="0" u="none">
                <a:solidFill>
                  <a:srgbClr val="545454"/>
                </a:solidFill>
                <a:latin typeface="Carlito"/>
              </a:defRPr>
            </a:pPr>
            <a:r>
              <a:t>Offre financière et support</a:t>
            </a:r>
          </a:p>
        </p:txBody>
      </p:sp>
      <p:sp>
        <p:nvSpPr>
          <p:cNvPr id="19" name="TextBox 18"/>
          <p:cNvSpPr txBox="1"/>
          <p:nvPr/>
        </p:nvSpPr>
        <p:spPr>
          <a:xfrm>
            <a:off x="3041649" y="5143500"/>
            <a:ext cx="311149" cy="330200"/>
          </a:xfrm>
          <a:prstGeom prst="rect">
            <a:avLst/>
          </a:prstGeom>
          <a:noFill/>
        </p:spPr>
        <p:txBody>
          <a:bodyPr wrap="square" lIns="45720" rIns="45720">
            <a:spAutoFit/>
          </a:bodyPr>
          <a:lstStyle/>
          <a:p>
            <a:pPr algn="l">
              <a:lnSpc>
                <a:spcPct val="120000"/>
              </a:lnSpc>
              <a:defRPr sz="2250" b="1" i="0" u="none">
                <a:solidFill>
                  <a:srgbClr val="FFFFFF"/>
                </a:solidFill>
                <a:latin typeface="Carlito"/>
              </a:defRPr>
            </a:pPr>
            <a:r>
              <a:t>5</a:t>
            </a:r>
          </a:p>
        </p:txBody>
      </p:sp>
      <p:sp>
        <p:nvSpPr>
          <p:cNvPr id="20" name="TextBox 19"/>
          <p:cNvSpPr txBox="1"/>
          <p:nvPr/>
        </p:nvSpPr>
        <p:spPr>
          <a:xfrm>
            <a:off x="11353799" y="6254750"/>
            <a:ext cx="660399" cy="527050"/>
          </a:xfrm>
          <a:prstGeom prst="rect">
            <a:avLst/>
          </a:prstGeom>
          <a:noFill/>
        </p:spPr>
        <p:txBody>
          <a:bodyPr wrap="square" lIns="45720" rIns="45720">
            <a:spAutoFit/>
          </a:bodyPr>
          <a:lstStyle/>
          <a:p>
            <a:pPr algn="r">
              <a:lnSpc>
                <a:spcPct val="120000"/>
              </a:lnSpc>
              <a:defRPr sz="3750" b="0" i="0" u="none">
                <a:solidFill>
                  <a:srgbClr val="6B7280"/>
                </a:solidFill>
                <a:latin typeface="Carlito"/>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999" cy="6858000"/>
          </a:xfrm>
          <a:prstGeom prst="rect">
            <a:avLst/>
          </a:prstGeom>
        </p:spPr>
      </p:pic>
      <p:pic>
        <p:nvPicPr>
          <p:cNvPr id="3" name="Picture 2" descr="image.png"/>
          <p:cNvPicPr>
            <a:picLocks noChangeAspect="1"/>
          </p:cNvPicPr>
          <p:nvPr/>
        </p:nvPicPr>
        <p:blipFill>
          <a:blip r:embed="rId3"/>
          <a:stretch>
            <a:fillRect/>
          </a:stretch>
        </p:blipFill>
        <p:spPr>
          <a:xfrm>
            <a:off x="5524499" y="6349999"/>
            <a:ext cx="1142999" cy="311149"/>
          </a:xfrm>
          <a:prstGeom prst="rect">
            <a:avLst/>
          </a:prstGeom>
        </p:spPr>
      </p:pic>
      <p:sp>
        <p:nvSpPr>
          <p:cNvPr id="4" name="TextBox 3"/>
          <p:cNvSpPr txBox="1"/>
          <p:nvPr/>
        </p:nvSpPr>
        <p:spPr>
          <a:xfrm>
            <a:off x="11353799" y="6254750"/>
            <a:ext cx="660399" cy="527050"/>
          </a:xfrm>
          <a:prstGeom prst="rect">
            <a:avLst/>
          </a:prstGeom>
          <a:noFill/>
        </p:spPr>
        <p:txBody>
          <a:bodyPr wrap="square" lIns="45720" rIns="45720">
            <a:spAutoFit/>
          </a:bodyPr>
          <a:lstStyle/>
          <a:p>
            <a:pPr algn="r">
              <a:lnSpc>
                <a:spcPct val="120000"/>
              </a:lnSpc>
              <a:defRPr sz="3750" b="0" i="0" u="none">
                <a:solidFill>
                  <a:srgbClr val="6B7280"/>
                </a:solidFill>
                <a:latin typeface="Carlito"/>
              </a:defRPr>
            </a:pPr>
            <a:r>
              <a:t>3</a:t>
            </a:r>
          </a:p>
        </p:txBody>
      </p:sp>
      <p:sp>
        <p:nvSpPr>
          <p:cNvPr id="5" name="TextBox 4"/>
          <p:cNvSpPr txBox="1"/>
          <p:nvPr/>
        </p:nvSpPr>
        <p:spPr>
          <a:xfrm>
            <a:off x="8655049" y="5003800"/>
            <a:ext cx="2965449" cy="774700"/>
          </a:xfrm>
          <a:prstGeom prst="rect">
            <a:avLst/>
          </a:prstGeom>
          <a:noFill/>
        </p:spPr>
        <p:txBody>
          <a:bodyPr wrap="square" lIns="45720" rIns="45720">
            <a:spAutoFit/>
          </a:bodyPr>
          <a:lstStyle/>
          <a:p>
            <a:pPr algn="l">
              <a:lnSpc>
                <a:spcPct val="120000"/>
              </a:lnSpc>
              <a:defRPr sz="3525" b="0" i="0" u="none">
                <a:solidFill>
                  <a:srgbClr val="545454"/>
                </a:solidFill>
                <a:latin typeface="Arial"/>
              </a:defRPr>
            </a:pPr>
            <a:r>
              <a:t>Croissance annuelle</a:t>
            </a:r>
          </a:p>
        </p:txBody>
      </p:sp>
      <p:sp>
        <p:nvSpPr>
          <p:cNvPr id="6" name="TextBox 5"/>
          <p:cNvSpPr txBox="1"/>
          <p:nvPr/>
        </p:nvSpPr>
        <p:spPr>
          <a:xfrm>
            <a:off x="-463549" y="1181099"/>
            <a:ext cx="13144499" cy="1187449"/>
          </a:xfrm>
          <a:prstGeom prst="rect">
            <a:avLst/>
          </a:prstGeom>
          <a:noFill/>
        </p:spPr>
        <p:txBody>
          <a:bodyPr wrap="square" lIns="45720" rIns="45720">
            <a:spAutoFit/>
          </a:bodyPr>
          <a:lstStyle/>
          <a:p>
            <a:pPr algn="ctr">
              <a:lnSpc>
                <a:spcPct val="120000"/>
              </a:lnSpc>
              <a:defRPr sz="2550" b="0" i="0" u="none">
                <a:solidFill>
                  <a:srgbClr val="545454"/>
                </a:solidFill>
                <a:latin typeface="Arial"/>
              </a:defRPr>
            </a:pPr>
            <a:r>
              <a:t>OliveSoft est spécialisée dans l’intégration de données et la transformation digitale, elle offre des solutions percutantes</a:t>
            </a:r>
          </a:p>
          <a:p>
            <a:pPr algn="ctr">
              <a:lnSpc>
                <a:spcPct val="120000"/>
              </a:lnSpc>
              <a:defRPr sz="2550" b="0" i="0" u="none">
                <a:solidFill>
                  <a:srgbClr val="545454"/>
                </a:solidFill>
                <a:latin typeface="Arial"/>
              </a:defRPr>
            </a:pPr>
            <a:r>
              <a:t>qui génèrent des résultats à l’échelle de toute l’organisation. Depuis 2018, nous accompagnons essentiellement des acteurs du Retail &amp; Luxe à optimiser leur process data via une approche centrée sur l’innovation.</a:t>
            </a:r>
          </a:p>
        </p:txBody>
      </p:sp>
      <p:sp>
        <p:nvSpPr>
          <p:cNvPr id="7" name="TextBox 6"/>
          <p:cNvSpPr txBox="1"/>
          <p:nvPr/>
        </p:nvSpPr>
        <p:spPr>
          <a:xfrm>
            <a:off x="4705349" y="2590799"/>
            <a:ext cx="2800349" cy="565149"/>
          </a:xfrm>
          <a:prstGeom prst="rect">
            <a:avLst/>
          </a:prstGeom>
          <a:noFill/>
        </p:spPr>
        <p:txBody>
          <a:bodyPr wrap="square" lIns="45720" rIns="45720">
            <a:spAutoFit/>
          </a:bodyPr>
          <a:lstStyle/>
          <a:p>
            <a:pPr algn="ctr">
              <a:lnSpc>
                <a:spcPct val="120000"/>
              </a:lnSpc>
              <a:defRPr sz="5175" b="1" i="0" u="none">
                <a:solidFill>
                  <a:srgbClr val="6B7280"/>
                </a:solidFill>
                <a:latin typeface="Montserrat"/>
              </a:defRPr>
            </a:pPr>
            <a:r>
              <a:t>En chiffres</a:t>
            </a:r>
          </a:p>
        </p:txBody>
      </p:sp>
      <p:sp>
        <p:nvSpPr>
          <p:cNvPr id="8" name="TextBox 7"/>
          <p:cNvSpPr txBox="1"/>
          <p:nvPr/>
        </p:nvSpPr>
        <p:spPr>
          <a:xfrm>
            <a:off x="3943349" y="3429000"/>
            <a:ext cx="2463799" cy="774700"/>
          </a:xfrm>
          <a:prstGeom prst="rect">
            <a:avLst/>
          </a:prstGeom>
          <a:noFill/>
        </p:spPr>
        <p:txBody>
          <a:bodyPr wrap="square" lIns="45720" rIns="45720">
            <a:spAutoFit/>
          </a:bodyPr>
          <a:lstStyle/>
          <a:p>
            <a:pPr algn="just">
              <a:lnSpc>
                <a:spcPct val="120000"/>
              </a:lnSpc>
              <a:defRPr sz="3525" b="0" i="0" u="none">
                <a:solidFill>
                  <a:srgbClr val="545454"/>
                </a:solidFill>
                <a:latin typeface="Arial"/>
              </a:defRPr>
            </a:pPr>
            <a:r>
              <a:t>Clients partenaires</a:t>
            </a:r>
          </a:p>
        </p:txBody>
      </p:sp>
      <p:sp>
        <p:nvSpPr>
          <p:cNvPr id="9" name="TextBox 8"/>
          <p:cNvSpPr txBox="1"/>
          <p:nvPr/>
        </p:nvSpPr>
        <p:spPr>
          <a:xfrm>
            <a:off x="6496049" y="3441700"/>
            <a:ext cx="1885949" cy="901700"/>
          </a:xfrm>
          <a:prstGeom prst="rect">
            <a:avLst/>
          </a:prstGeom>
          <a:noFill/>
        </p:spPr>
        <p:txBody>
          <a:bodyPr wrap="square" lIns="45720" rIns="45720">
            <a:spAutoFit/>
          </a:bodyPr>
          <a:lstStyle/>
          <a:p>
            <a:pPr algn="l">
              <a:lnSpc>
                <a:spcPct val="120000"/>
              </a:lnSpc>
              <a:defRPr sz="9075" b="1" i="0" u="none">
                <a:solidFill>
                  <a:srgbClr val="29F79A"/>
                </a:solidFill>
                <a:latin typeface="Montserrat"/>
              </a:defRPr>
            </a:pPr>
            <a:r>
              <a:rPr>
                <a:gradFill>
                  <a:gsLst>
                    <a:gs pos="0">
                      <a:srgbClr val="29F79A"/>
                    </a:gs>
                    <a:gs pos="100000">
                      <a:srgbClr val="0CC0DF"/>
                    </a:gs>
                  </a:gsLst>
                  <a:lin ang="0" scaled="0"/>
                </a:gradFill>
              </a:rPr>
              <a:t>230</a:t>
            </a:r>
          </a:p>
        </p:txBody>
      </p:sp>
      <p:sp>
        <p:nvSpPr>
          <p:cNvPr id="10" name="TextBox 9"/>
          <p:cNvSpPr txBox="1"/>
          <p:nvPr/>
        </p:nvSpPr>
        <p:spPr>
          <a:xfrm>
            <a:off x="8553449" y="3384550"/>
            <a:ext cx="2641599" cy="774700"/>
          </a:xfrm>
          <a:prstGeom prst="rect">
            <a:avLst/>
          </a:prstGeom>
          <a:noFill/>
        </p:spPr>
        <p:txBody>
          <a:bodyPr wrap="square" lIns="45720" rIns="45720">
            <a:spAutoFit/>
          </a:bodyPr>
          <a:lstStyle/>
          <a:p>
            <a:pPr algn="l">
              <a:lnSpc>
                <a:spcPct val="120000"/>
              </a:lnSpc>
              <a:defRPr sz="3525" b="0" i="0" u="none">
                <a:solidFill>
                  <a:srgbClr val="545454"/>
                </a:solidFill>
                <a:latin typeface="Arial"/>
              </a:defRPr>
            </a:pPr>
            <a:r>
              <a:t>Projets</a:t>
            </a:r>
          </a:p>
          <a:p>
            <a:pPr algn="l">
              <a:lnSpc>
                <a:spcPct val="120000"/>
              </a:lnSpc>
              <a:defRPr sz="3525" b="0" i="0" u="none">
                <a:solidFill>
                  <a:srgbClr val="545454"/>
                </a:solidFill>
                <a:latin typeface="Arial"/>
              </a:defRPr>
            </a:pPr>
            <a:r>
              <a:t>déployés</a:t>
            </a:r>
          </a:p>
        </p:txBody>
      </p:sp>
      <p:sp>
        <p:nvSpPr>
          <p:cNvPr id="11" name="TextBox 10"/>
          <p:cNvSpPr txBox="1"/>
          <p:nvPr/>
        </p:nvSpPr>
        <p:spPr>
          <a:xfrm>
            <a:off x="2457449" y="4991100"/>
            <a:ext cx="1727199" cy="901700"/>
          </a:xfrm>
          <a:prstGeom prst="rect">
            <a:avLst/>
          </a:prstGeom>
          <a:noFill/>
        </p:spPr>
        <p:txBody>
          <a:bodyPr wrap="square" lIns="45720" rIns="45720">
            <a:spAutoFit/>
          </a:bodyPr>
          <a:lstStyle/>
          <a:p>
            <a:pPr algn="l">
              <a:lnSpc>
                <a:spcPct val="120000"/>
              </a:lnSpc>
              <a:defRPr sz="9075" b="1" i="0" u="none">
                <a:solidFill>
                  <a:srgbClr val="29F79A"/>
                </a:solidFill>
                <a:latin typeface="Montserrat"/>
              </a:defRPr>
            </a:pPr>
            <a:r>
              <a:rPr>
                <a:gradFill>
                  <a:gsLst>
                    <a:gs pos="0">
                      <a:srgbClr val="29F79A"/>
                    </a:gs>
                    <a:gs pos="100000">
                      <a:srgbClr val="0CC0DF"/>
                    </a:gs>
                  </a:gsLst>
                  <a:lin ang="0" scaled="0"/>
                </a:gradFill>
              </a:rPr>
              <a:t>70+</a:t>
            </a:r>
          </a:p>
        </p:txBody>
      </p:sp>
      <p:sp>
        <p:nvSpPr>
          <p:cNvPr id="12" name="TextBox 11"/>
          <p:cNvSpPr txBox="1"/>
          <p:nvPr/>
        </p:nvSpPr>
        <p:spPr>
          <a:xfrm>
            <a:off x="3943349" y="5010149"/>
            <a:ext cx="2298699" cy="774700"/>
          </a:xfrm>
          <a:prstGeom prst="rect">
            <a:avLst/>
          </a:prstGeom>
          <a:noFill/>
        </p:spPr>
        <p:txBody>
          <a:bodyPr wrap="square" lIns="45720" rIns="45720">
            <a:spAutoFit/>
          </a:bodyPr>
          <a:lstStyle/>
          <a:p>
            <a:pPr algn="l">
              <a:lnSpc>
                <a:spcPct val="120000"/>
              </a:lnSpc>
              <a:defRPr sz="3525" b="0" i="0" u="none">
                <a:solidFill>
                  <a:srgbClr val="545454"/>
                </a:solidFill>
                <a:latin typeface="Arial"/>
              </a:defRPr>
            </a:pPr>
            <a:r>
              <a:t>Experts en data</a:t>
            </a:r>
          </a:p>
        </p:txBody>
      </p:sp>
      <p:sp>
        <p:nvSpPr>
          <p:cNvPr id="13" name="TextBox 12"/>
          <p:cNvSpPr txBox="1"/>
          <p:nvPr/>
        </p:nvSpPr>
        <p:spPr>
          <a:xfrm>
            <a:off x="6496049" y="4991100"/>
            <a:ext cx="2476499" cy="901700"/>
          </a:xfrm>
          <a:prstGeom prst="rect">
            <a:avLst/>
          </a:prstGeom>
          <a:noFill/>
        </p:spPr>
        <p:txBody>
          <a:bodyPr wrap="square" lIns="45720" rIns="45720">
            <a:spAutoFit/>
          </a:bodyPr>
          <a:lstStyle/>
          <a:p>
            <a:pPr algn="l">
              <a:lnSpc>
                <a:spcPct val="120000"/>
              </a:lnSpc>
              <a:defRPr sz="9075" b="1" i="0" u="none">
                <a:solidFill>
                  <a:srgbClr val="5DE0E6"/>
                </a:solidFill>
                <a:latin typeface="Montserrat"/>
              </a:defRPr>
            </a:pPr>
            <a:r>
              <a:rPr>
                <a:gradFill>
                  <a:gsLst>
                    <a:gs pos="0">
                      <a:srgbClr val="5DE0E6"/>
                    </a:gs>
                    <a:gs pos="100000">
                      <a:srgbClr val="004AAD"/>
                    </a:gs>
                  </a:gsLst>
                  <a:lin ang="0" scaled="0"/>
                </a:gradFill>
              </a:rPr>
              <a:t>100%</a:t>
            </a:r>
          </a:p>
        </p:txBody>
      </p:sp>
      <p:sp>
        <p:nvSpPr>
          <p:cNvPr id="14" name="TextBox 13"/>
          <p:cNvSpPr txBox="1"/>
          <p:nvPr/>
        </p:nvSpPr>
        <p:spPr>
          <a:xfrm>
            <a:off x="2457449" y="3448049"/>
            <a:ext cx="1917699" cy="901700"/>
          </a:xfrm>
          <a:prstGeom prst="rect">
            <a:avLst/>
          </a:prstGeom>
          <a:noFill/>
        </p:spPr>
        <p:txBody>
          <a:bodyPr wrap="square" lIns="45720" rIns="45720">
            <a:spAutoFit/>
          </a:bodyPr>
          <a:lstStyle/>
          <a:p>
            <a:pPr algn="l">
              <a:lnSpc>
                <a:spcPct val="120000"/>
              </a:lnSpc>
              <a:defRPr sz="9075" b="1" i="0" u="none">
                <a:solidFill>
                  <a:srgbClr val="5DE0E6"/>
                </a:solidFill>
                <a:latin typeface="Montserrat"/>
              </a:defRPr>
            </a:pPr>
            <a:r>
              <a:rPr>
                <a:gradFill>
                  <a:gsLst>
                    <a:gs pos="0">
                      <a:srgbClr val="5DE0E6"/>
                    </a:gs>
                    <a:gs pos="100000">
                      <a:srgbClr val="004AAD"/>
                    </a:gs>
                  </a:gsLst>
                  <a:lin ang="0" scaled="0"/>
                </a:gradFill>
              </a:rPr>
              <a:t>30</a:t>
            </a:r>
          </a:p>
        </p:txBody>
      </p:sp>
      <p:pic>
        <p:nvPicPr>
          <p:cNvPr id="15" name="Picture 14" descr="image.jpg"/>
          <p:cNvPicPr>
            <a:picLocks noChangeAspect="1"/>
          </p:cNvPicPr>
          <p:nvPr/>
        </p:nvPicPr>
        <p:blipFill>
          <a:blip r:embed="rId4"/>
          <a:stretch>
            <a:fillRect/>
          </a:stretch>
        </p:blipFill>
        <p:spPr>
          <a:xfrm>
            <a:off x="5200649" y="203200"/>
            <a:ext cx="2133599" cy="755650"/>
          </a:xfrm>
          <a:prstGeom prst="rect">
            <a:avLst/>
          </a:prstGeom>
        </p:spPr>
      </p:pic>
      <p:sp>
        <p:nvSpPr>
          <p:cNvPr id="16" name="TextBox 15"/>
          <p:cNvSpPr txBox="1"/>
          <p:nvPr/>
        </p:nvSpPr>
        <p:spPr>
          <a:xfrm>
            <a:off x="5124449" y="228600"/>
            <a:ext cx="2559049" cy="685800"/>
          </a:xfrm>
          <a:prstGeom prst="rect">
            <a:avLst/>
          </a:prstGeom>
          <a:noFill/>
        </p:spPr>
        <p:txBody>
          <a:bodyPr wrap="square" lIns="45720" rIns="45720">
            <a:spAutoFit/>
          </a:bodyPr>
          <a:lstStyle/>
          <a:p>
            <a:pPr algn="l">
              <a:lnSpc>
                <a:spcPct val="120000"/>
              </a:lnSpc>
              <a:defRPr sz="4500" b="1" i="0" u="none">
                <a:solidFill>
                  <a:srgbClr val="010B49"/>
                </a:solidFill>
                <a:latin typeface="Arial"/>
              </a:defRPr>
            </a:pPr>
            <a:r>
              <a:t>A PROPOS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999" cy="6858000"/>
          </a:xfrm>
          <a:prstGeom prst="rect">
            <a:avLst/>
          </a:prstGeom>
        </p:spPr>
      </p:pic>
      <p:pic>
        <p:nvPicPr>
          <p:cNvPr id="3" name="Picture 2" descr="image.png"/>
          <p:cNvPicPr>
            <a:picLocks noChangeAspect="1"/>
          </p:cNvPicPr>
          <p:nvPr/>
        </p:nvPicPr>
        <p:blipFill>
          <a:blip r:embed="rId3"/>
          <a:stretch>
            <a:fillRect/>
          </a:stretch>
        </p:blipFill>
        <p:spPr>
          <a:xfrm>
            <a:off x="5524499" y="6349999"/>
            <a:ext cx="1142999" cy="311149"/>
          </a:xfrm>
          <a:prstGeom prst="rect">
            <a:avLst/>
          </a:prstGeom>
        </p:spPr>
      </p:pic>
      <p:pic>
        <p:nvPicPr>
          <p:cNvPr id="4" name="Picture 3" descr="image.jpg"/>
          <p:cNvPicPr>
            <a:picLocks noChangeAspect="1"/>
          </p:cNvPicPr>
          <p:nvPr/>
        </p:nvPicPr>
        <p:blipFill>
          <a:blip r:embed="rId4"/>
          <a:stretch>
            <a:fillRect/>
          </a:stretch>
        </p:blipFill>
        <p:spPr>
          <a:xfrm>
            <a:off x="730249" y="361950"/>
            <a:ext cx="10731499" cy="755650"/>
          </a:xfrm>
          <a:prstGeom prst="rect">
            <a:avLst/>
          </a:prstGeom>
        </p:spPr>
      </p:pic>
      <p:sp>
        <p:nvSpPr>
          <p:cNvPr id="5" name="TextBox 4"/>
          <p:cNvSpPr txBox="1"/>
          <p:nvPr/>
        </p:nvSpPr>
        <p:spPr>
          <a:xfrm>
            <a:off x="609599" y="1663700"/>
            <a:ext cx="10972799" cy="939799"/>
          </a:xfrm>
          <a:prstGeom prst="rect">
            <a:avLst/>
          </a:prstGeom>
          <a:noFill/>
        </p:spPr>
        <p:txBody>
          <a:bodyPr wrap="square" lIns="45720" rIns="45720">
            <a:spAutoFit/>
          </a:bodyPr>
          <a:lstStyle/>
          <a:p>
            <a:pPr algn="l">
              <a:lnSpc>
                <a:spcPct val="145000"/>
              </a:lnSpc>
              <a:defRPr sz="1800" b="0" i="0" u="none">
                <a:solidFill>
                  <a:srgbClr val="545454"/>
                </a:solidFill>
                <a:latin typeface="Arial"/>
              </a:defRPr>
            </a:pPr>
            <a:r>
              <a:t>Le client souhaite un tableau de bord décisionnel regroupant les indicateurs des établissements de santé. Il doit être développé sous Power BI, alimenté par des pipelines Python, hébergé sur Azure, avec une équipe dédiée.</a:t>
            </a:r>
          </a:p>
        </p:txBody>
      </p:sp>
      <p:sp>
        <p:nvSpPr>
          <p:cNvPr id="6" name="Rounded Rectangle 5"/>
          <p:cNvSpPr/>
          <p:nvPr/>
        </p:nvSpPr>
        <p:spPr>
          <a:xfrm>
            <a:off x="609599" y="2762249"/>
            <a:ext cx="2647949" cy="825499"/>
          </a:xfrm>
          <a:prstGeom prst="roundRect">
            <a:avLst/>
          </a:prstGeom>
          <a:solidFill>
            <a:srgbClr val="182238"/>
          </a:solidFill>
          <a:ln w="12700">
            <a:solidFill>
              <a:srgbClr val="00DD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6759" y="2899409"/>
            <a:ext cx="2373629" cy="365760"/>
          </a:xfrm>
          <a:prstGeom prst="rect">
            <a:avLst/>
          </a:prstGeom>
          <a:noFill/>
        </p:spPr>
        <p:txBody>
          <a:bodyPr wrap="square">
            <a:spAutoFit/>
          </a:bodyPr>
          <a:lstStyle/>
          <a:p>
            <a:pPr>
              <a:defRPr sz="3300" b="1">
                <a:solidFill>
                  <a:srgbClr val="00DDDC"/>
                </a:solidFill>
                <a:latin typeface="Arial"/>
              </a:defRPr>
            </a:pPr>
            <a:r>
              <a:rPr>
                <a:gradFill>
                  <a:gsLst>
                    <a:gs pos="0">
                      <a:srgbClr val="29F79A"/>
                    </a:gs>
                    <a:gs pos="100000">
                      <a:srgbClr val="0CC0DF"/>
                    </a:gs>
                  </a:gsLst>
                  <a:lin ang="0" scaled="0"/>
                </a:gradFill>
              </a:rPr>
              <a:t>100 %</a:t>
            </a:r>
          </a:p>
        </p:txBody>
      </p:sp>
      <p:sp>
        <p:nvSpPr>
          <p:cNvPr id="8" name="TextBox 7"/>
          <p:cNvSpPr txBox="1"/>
          <p:nvPr/>
        </p:nvSpPr>
        <p:spPr>
          <a:xfrm>
            <a:off x="746759" y="3265169"/>
            <a:ext cx="2373629" cy="231139"/>
          </a:xfrm>
          <a:prstGeom prst="rect">
            <a:avLst/>
          </a:prstGeom>
          <a:noFill/>
        </p:spPr>
        <p:txBody>
          <a:bodyPr wrap="square">
            <a:spAutoFit/>
          </a:bodyPr>
          <a:lstStyle/>
          <a:p>
            <a:pPr>
              <a:defRPr sz="1300">
                <a:solidFill>
                  <a:srgbClr val="545454"/>
                </a:solidFill>
                <a:latin typeface="Arial"/>
              </a:defRPr>
            </a:pPr>
            <a:r>
              <a:t>Couverture des exigences</a:t>
            </a:r>
          </a:p>
        </p:txBody>
      </p:sp>
      <p:sp>
        <p:nvSpPr>
          <p:cNvPr id="9" name="Rounded Rectangle 8"/>
          <p:cNvSpPr/>
          <p:nvPr/>
        </p:nvSpPr>
        <p:spPr>
          <a:xfrm>
            <a:off x="3384549" y="2762249"/>
            <a:ext cx="2647949" cy="825499"/>
          </a:xfrm>
          <a:prstGeom prst="roundRect">
            <a:avLst/>
          </a:prstGeom>
          <a:solidFill>
            <a:srgbClr val="182238"/>
          </a:solidFill>
          <a:ln w="12700">
            <a:solidFill>
              <a:srgbClr val="00DD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21709" y="2899409"/>
            <a:ext cx="2373629" cy="365760"/>
          </a:xfrm>
          <a:prstGeom prst="rect">
            <a:avLst/>
          </a:prstGeom>
          <a:noFill/>
        </p:spPr>
        <p:txBody>
          <a:bodyPr wrap="square">
            <a:spAutoFit/>
          </a:bodyPr>
          <a:lstStyle/>
          <a:p>
            <a:pPr>
              <a:defRPr sz="3300" b="1">
                <a:solidFill>
                  <a:srgbClr val="00DDDC"/>
                </a:solidFill>
                <a:latin typeface="Arial"/>
              </a:defRPr>
            </a:pPr>
            <a:r>
              <a:rPr>
                <a:gradFill>
                  <a:gsLst>
                    <a:gs pos="0">
                      <a:srgbClr val="5DE0E6"/>
                    </a:gs>
                    <a:gs pos="100000">
                      <a:srgbClr val="004AAD"/>
                    </a:gs>
                  </a:gsLst>
                  <a:lin ang="0" scaled="0"/>
                </a:gradFill>
              </a:rPr>
              <a:t>100%</a:t>
            </a:r>
          </a:p>
        </p:txBody>
      </p:sp>
      <p:sp>
        <p:nvSpPr>
          <p:cNvPr id="11" name="TextBox 10"/>
          <p:cNvSpPr txBox="1"/>
          <p:nvPr/>
        </p:nvSpPr>
        <p:spPr>
          <a:xfrm>
            <a:off x="3521709" y="3265169"/>
            <a:ext cx="2373629" cy="231139"/>
          </a:xfrm>
          <a:prstGeom prst="rect">
            <a:avLst/>
          </a:prstGeom>
          <a:noFill/>
        </p:spPr>
        <p:txBody>
          <a:bodyPr wrap="square">
            <a:spAutoFit/>
          </a:bodyPr>
          <a:lstStyle/>
          <a:p>
            <a:pPr>
              <a:defRPr sz="1300">
                <a:solidFill>
                  <a:srgbClr val="545454"/>
                </a:solidFill>
                <a:latin typeface="Arial"/>
              </a:defRPr>
            </a:pPr>
            <a:r>
              <a:t>Score de correspondance</a:t>
            </a:r>
          </a:p>
        </p:txBody>
      </p:sp>
      <p:sp>
        <p:nvSpPr>
          <p:cNvPr id="12" name="Rounded Rectangle 11"/>
          <p:cNvSpPr/>
          <p:nvPr/>
        </p:nvSpPr>
        <p:spPr>
          <a:xfrm>
            <a:off x="6159499" y="2762249"/>
            <a:ext cx="2647949" cy="825499"/>
          </a:xfrm>
          <a:prstGeom prst="roundRect">
            <a:avLst/>
          </a:prstGeom>
          <a:solidFill>
            <a:srgbClr val="182238"/>
          </a:solidFill>
          <a:ln w="12700">
            <a:solidFill>
              <a:srgbClr val="00DD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96659" y="2899409"/>
            <a:ext cx="2373629" cy="365760"/>
          </a:xfrm>
          <a:prstGeom prst="rect">
            <a:avLst/>
          </a:prstGeom>
          <a:noFill/>
        </p:spPr>
        <p:txBody>
          <a:bodyPr wrap="square">
            <a:spAutoFit/>
          </a:bodyPr>
          <a:lstStyle/>
          <a:p>
            <a:pPr>
              <a:defRPr sz="3300" b="1">
                <a:solidFill>
                  <a:srgbClr val="00DDDC"/>
                </a:solidFill>
                <a:latin typeface="Arial"/>
              </a:defRPr>
            </a:pPr>
            <a:r>
              <a:rPr>
                <a:gradFill>
                  <a:gsLst>
                    <a:gs pos="0">
                      <a:srgbClr val="29F79A"/>
                    </a:gs>
                    <a:gs pos="100000">
                      <a:srgbClr val="0CC0DF"/>
                    </a:gs>
                  </a:gsLst>
                  <a:lin ang="0" scaled="0"/>
                </a:gradFill>
              </a:rPr>
              <a:t>3</a:t>
            </a:r>
          </a:p>
        </p:txBody>
      </p:sp>
      <p:sp>
        <p:nvSpPr>
          <p:cNvPr id="14" name="TextBox 13"/>
          <p:cNvSpPr txBox="1"/>
          <p:nvPr/>
        </p:nvSpPr>
        <p:spPr>
          <a:xfrm>
            <a:off x="6296659" y="3265169"/>
            <a:ext cx="2373629" cy="231139"/>
          </a:xfrm>
          <a:prstGeom prst="rect">
            <a:avLst/>
          </a:prstGeom>
          <a:noFill/>
        </p:spPr>
        <p:txBody>
          <a:bodyPr wrap="square">
            <a:spAutoFit/>
          </a:bodyPr>
          <a:lstStyle/>
          <a:p>
            <a:pPr>
              <a:defRPr sz="1300">
                <a:solidFill>
                  <a:srgbClr val="545454"/>
                </a:solidFill>
                <a:latin typeface="Arial"/>
              </a:defRPr>
            </a:pPr>
            <a:r>
              <a:t>Ingénieurs spécialisés</a:t>
            </a:r>
          </a:p>
        </p:txBody>
      </p:sp>
      <p:sp>
        <p:nvSpPr>
          <p:cNvPr id="15" name="Rounded Rectangle 14"/>
          <p:cNvSpPr/>
          <p:nvPr/>
        </p:nvSpPr>
        <p:spPr>
          <a:xfrm>
            <a:off x="8934449" y="2762249"/>
            <a:ext cx="2647949" cy="825499"/>
          </a:xfrm>
          <a:prstGeom prst="roundRect">
            <a:avLst/>
          </a:prstGeom>
          <a:solidFill>
            <a:srgbClr val="182238"/>
          </a:solidFill>
          <a:ln w="12700">
            <a:solidFill>
              <a:srgbClr val="00DD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71609" y="2899409"/>
            <a:ext cx="2373629" cy="365760"/>
          </a:xfrm>
          <a:prstGeom prst="rect">
            <a:avLst/>
          </a:prstGeom>
          <a:noFill/>
        </p:spPr>
        <p:txBody>
          <a:bodyPr wrap="square">
            <a:spAutoFit/>
          </a:bodyPr>
          <a:lstStyle/>
          <a:p>
            <a:pPr>
              <a:defRPr sz="3300" b="1">
                <a:solidFill>
                  <a:srgbClr val="00DDDC"/>
                </a:solidFill>
                <a:latin typeface="Arial"/>
              </a:defRPr>
            </a:pPr>
            <a:r>
              <a:rPr>
                <a:gradFill>
                  <a:gsLst>
                    <a:gs pos="0">
                      <a:srgbClr val="5DE0E6"/>
                    </a:gs>
                    <a:gs pos="100000">
                      <a:srgbClr val="004AAD"/>
                    </a:gs>
                  </a:gsLst>
                  <a:lin ang="0" scaled="0"/>
                </a:gradFill>
              </a:rPr>
              <a:t>9</a:t>
            </a:r>
          </a:p>
        </p:txBody>
      </p:sp>
      <p:sp>
        <p:nvSpPr>
          <p:cNvPr id="17" name="TextBox 16"/>
          <p:cNvSpPr txBox="1"/>
          <p:nvPr/>
        </p:nvSpPr>
        <p:spPr>
          <a:xfrm>
            <a:off x="9071609" y="3265169"/>
            <a:ext cx="2373629" cy="231139"/>
          </a:xfrm>
          <a:prstGeom prst="rect">
            <a:avLst/>
          </a:prstGeom>
          <a:noFill/>
        </p:spPr>
        <p:txBody>
          <a:bodyPr wrap="square">
            <a:spAutoFit/>
          </a:bodyPr>
          <a:lstStyle/>
          <a:p>
            <a:pPr>
              <a:defRPr sz="1300">
                <a:solidFill>
                  <a:srgbClr val="545454"/>
                </a:solidFill>
                <a:latin typeface="Arial"/>
              </a:defRPr>
            </a:pPr>
            <a:r>
              <a:t>Certifications</a:t>
            </a:r>
          </a:p>
        </p:txBody>
      </p:sp>
      <p:sp>
        <p:nvSpPr>
          <p:cNvPr id="18" name="TextBox 17"/>
          <p:cNvSpPr txBox="1"/>
          <p:nvPr/>
        </p:nvSpPr>
        <p:spPr>
          <a:xfrm>
            <a:off x="609599" y="3809999"/>
            <a:ext cx="10972799" cy="965200"/>
          </a:xfrm>
          <a:prstGeom prst="rect">
            <a:avLst/>
          </a:prstGeom>
          <a:noFill/>
        </p:spPr>
        <p:txBody>
          <a:bodyPr wrap="square" lIns="45720" rIns="45720">
            <a:spAutoFit/>
          </a:bodyPr>
          <a:lstStyle/>
          <a:p>
            <a:pPr>
              <a:lnSpc>
                <a:spcPct val="150000"/>
              </a:lnSpc>
              <a:defRPr sz="2100">
                <a:solidFill>
                  <a:srgbClr val="545454"/>
                </a:solidFill>
                <a:latin typeface="Arial"/>
              </a:defRPr>
            </a:pPr>
            <a:r>
              <a:t>• Visualisation interactive des indicateurs, facilitant la prise de décision rapide.</a:t>
            </a:r>
          </a:p>
          <a:p>
            <a:pPr>
              <a:lnSpc>
                <a:spcPct val="150000"/>
              </a:lnSpc>
              <a:defRPr sz="2100">
                <a:solidFill>
                  <a:srgbClr val="545454"/>
                </a:solidFill>
                <a:latin typeface="Arial"/>
              </a:defRPr>
            </a:pPr>
            <a:r>
              <a:t>• Automatisation des flux de données avec Python, réduisant les erreurs manuelles.</a:t>
            </a:r>
          </a:p>
          <a:p>
            <a:pPr>
              <a:lnSpc>
                <a:spcPct val="150000"/>
              </a:lnSpc>
              <a:defRPr sz="2100">
                <a:solidFill>
                  <a:srgbClr val="545454"/>
                </a:solidFill>
                <a:latin typeface="Arial"/>
              </a:defRPr>
            </a:pPr>
            <a:r>
              <a:t>• Hébergement sécurisé sur Azure, assurant conformité et évolutivité du système.</a:t>
            </a:r>
          </a:p>
        </p:txBody>
      </p:sp>
      <p:sp>
        <p:nvSpPr>
          <p:cNvPr id="19" name="TextBox 18"/>
          <p:cNvSpPr txBox="1"/>
          <p:nvPr/>
        </p:nvSpPr>
        <p:spPr>
          <a:xfrm>
            <a:off x="654049" y="387350"/>
            <a:ext cx="11156949" cy="685800"/>
          </a:xfrm>
          <a:prstGeom prst="rect">
            <a:avLst/>
          </a:prstGeom>
          <a:noFill/>
        </p:spPr>
        <p:txBody>
          <a:bodyPr wrap="square" lIns="45720" rIns="45720">
            <a:spAutoFit/>
          </a:bodyPr>
          <a:lstStyle/>
          <a:p>
            <a:pPr algn="l">
              <a:defRPr sz="4500" b="1" i="0" u="none">
                <a:solidFill>
                  <a:srgbClr val="010B49"/>
                </a:solidFill>
                <a:latin typeface="Arial"/>
              </a:defRPr>
            </a:pPr>
            <a:r>
              <a:t>Synthèse exécutive</a:t>
            </a:r>
          </a:p>
        </p:txBody>
      </p:sp>
      <p:sp>
        <p:nvSpPr>
          <p:cNvPr id="20" name="TextBox 19"/>
          <p:cNvSpPr txBox="1"/>
          <p:nvPr/>
        </p:nvSpPr>
        <p:spPr>
          <a:xfrm>
            <a:off x="11353799" y="6254750"/>
            <a:ext cx="660399" cy="527050"/>
          </a:xfrm>
          <a:prstGeom prst="rect">
            <a:avLst/>
          </a:prstGeom>
          <a:noFill/>
        </p:spPr>
        <p:txBody>
          <a:bodyPr wrap="square" lIns="45720" rIns="45720">
            <a:spAutoFit/>
          </a:bodyPr>
          <a:lstStyle/>
          <a:p>
            <a:pPr algn="r">
              <a:lnSpc>
                <a:spcPct val="120000"/>
              </a:lnSpc>
              <a:defRPr sz="3750" b="0" i="0" u="none">
                <a:solidFill>
                  <a:srgbClr val="6B7280"/>
                </a:solidFill>
                <a:latin typeface="Carlito"/>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999" cy="6858000"/>
          </a:xfrm>
          <a:prstGeom prst="rect">
            <a:avLst/>
          </a:prstGeom>
        </p:spPr>
      </p:pic>
      <p:pic>
        <p:nvPicPr>
          <p:cNvPr id="3" name="Picture 2" descr="image.png"/>
          <p:cNvPicPr>
            <a:picLocks noChangeAspect="1"/>
          </p:cNvPicPr>
          <p:nvPr/>
        </p:nvPicPr>
        <p:blipFill>
          <a:blip r:embed="rId3"/>
          <a:stretch>
            <a:fillRect/>
          </a:stretch>
        </p:blipFill>
        <p:spPr>
          <a:xfrm>
            <a:off x="5524499" y="6349999"/>
            <a:ext cx="1142999" cy="311149"/>
          </a:xfrm>
          <a:prstGeom prst="rect">
            <a:avLst/>
          </a:prstGeom>
        </p:spPr>
      </p:pic>
      <p:pic>
        <p:nvPicPr>
          <p:cNvPr id="4" name="Picture 3" descr="image.jpg"/>
          <p:cNvPicPr>
            <a:picLocks noChangeAspect="1"/>
          </p:cNvPicPr>
          <p:nvPr/>
        </p:nvPicPr>
        <p:blipFill>
          <a:blip r:embed="rId4"/>
          <a:stretch>
            <a:fillRect/>
          </a:stretch>
        </p:blipFill>
        <p:spPr>
          <a:xfrm>
            <a:off x="730249" y="361950"/>
            <a:ext cx="10731499" cy="755650"/>
          </a:xfrm>
          <a:prstGeom prst="rect">
            <a:avLst/>
          </a:prstGeom>
        </p:spPr>
      </p:pic>
      <p:sp>
        <p:nvSpPr>
          <p:cNvPr id="5" name="TextBox 4"/>
          <p:cNvSpPr txBox="1"/>
          <p:nvPr/>
        </p:nvSpPr>
        <p:spPr>
          <a:xfrm>
            <a:off x="609599" y="1663700"/>
            <a:ext cx="10972799" cy="965200"/>
          </a:xfrm>
          <a:prstGeom prst="rect">
            <a:avLst/>
          </a:prstGeom>
          <a:noFill/>
        </p:spPr>
        <p:txBody>
          <a:bodyPr wrap="square" lIns="45720" rIns="45720">
            <a:spAutoFit/>
          </a:bodyPr>
          <a:lstStyle/>
          <a:p>
            <a:pPr>
              <a:lnSpc>
                <a:spcPct val="150000"/>
              </a:lnSpc>
              <a:defRPr sz="2100">
                <a:solidFill>
                  <a:srgbClr val="545454"/>
                </a:solidFill>
                <a:latin typeface="Arial"/>
              </a:defRPr>
            </a:pPr>
            <a:r>
              <a:t>• Consolider les indicateurs de santé de tous les établissements régionaux.</a:t>
            </a:r>
          </a:p>
          <a:p>
            <a:pPr>
              <a:lnSpc>
                <a:spcPct val="150000"/>
              </a:lnSpc>
              <a:defRPr sz="2100">
                <a:solidFill>
                  <a:srgbClr val="545454"/>
                </a:solidFill>
                <a:latin typeface="Arial"/>
              </a:defRPr>
            </a:pPr>
            <a:r>
              <a:t>• Assurer un accès aux tableaux de bord basé sur des rôles sécurisés.</a:t>
            </a:r>
          </a:p>
          <a:p>
            <a:pPr>
              <a:lnSpc>
                <a:spcPct val="150000"/>
              </a:lnSpc>
              <a:defRPr sz="2100">
                <a:solidFill>
                  <a:srgbClr val="545454"/>
                </a:solidFill>
                <a:latin typeface="Arial"/>
              </a:defRPr>
            </a:pPr>
            <a:r>
              <a:t>• Livrer la solution complète en six mois, respectant le budget alloué.</a:t>
            </a:r>
          </a:p>
        </p:txBody>
      </p:sp>
      <p:sp>
        <p:nvSpPr>
          <p:cNvPr id="6" name="TextBox 5"/>
          <p:cNvSpPr txBox="1"/>
          <p:nvPr/>
        </p:nvSpPr>
        <p:spPr>
          <a:xfrm>
            <a:off x="654049" y="387350"/>
            <a:ext cx="11156949" cy="685800"/>
          </a:xfrm>
          <a:prstGeom prst="rect">
            <a:avLst/>
          </a:prstGeom>
          <a:noFill/>
        </p:spPr>
        <p:txBody>
          <a:bodyPr wrap="square" lIns="45720" rIns="45720">
            <a:spAutoFit/>
          </a:bodyPr>
          <a:lstStyle/>
          <a:p>
            <a:pPr algn="l">
              <a:defRPr sz="4500" b="1" i="0" u="none">
                <a:solidFill>
                  <a:srgbClr val="010B49"/>
                </a:solidFill>
                <a:latin typeface="Arial"/>
              </a:defRPr>
            </a:pPr>
            <a:r>
              <a:t>Compréhension de vos besoins</a:t>
            </a:r>
          </a:p>
        </p:txBody>
      </p:sp>
      <p:sp>
        <p:nvSpPr>
          <p:cNvPr id="7" name="TextBox 6"/>
          <p:cNvSpPr txBox="1"/>
          <p:nvPr/>
        </p:nvSpPr>
        <p:spPr>
          <a:xfrm>
            <a:off x="11353799" y="6254750"/>
            <a:ext cx="660399" cy="527050"/>
          </a:xfrm>
          <a:prstGeom prst="rect">
            <a:avLst/>
          </a:prstGeom>
          <a:noFill/>
        </p:spPr>
        <p:txBody>
          <a:bodyPr wrap="square" lIns="45720" rIns="45720">
            <a:spAutoFit/>
          </a:bodyPr>
          <a:lstStyle/>
          <a:p>
            <a:pPr algn="r">
              <a:lnSpc>
                <a:spcPct val="120000"/>
              </a:lnSpc>
              <a:defRPr sz="3750" b="0" i="0" u="none">
                <a:solidFill>
                  <a:srgbClr val="6B7280"/>
                </a:solidFill>
                <a:latin typeface="Carlito"/>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999" cy="6858000"/>
          </a:xfrm>
          <a:prstGeom prst="rect">
            <a:avLst/>
          </a:prstGeom>
        </p:spPr>
      </p:pic>
      <p:pic>
        <p:nvPicPr>
          <p:cNvPr id="3" name="Picture 2" descr="image.png"/>
          <p:cNvPicPr>
            <a:picLocks noChangeAspect="1"/>
          </p:cNvPicPr>
          <p:nvPr/>
        </p:nvPicPr>
        <p:blipFill>
          <a:blip r:embed="rId3"/>
          <a:stretch>
            <a:fillRect/>
          </a:stretch>
        </p:blipFill>
        <p:spPr>
          <a:xfrm>
            <a:off x="5524499" y="6349999"/>
            <a:ext cx="1142999" cy="311149"/>
          </a:xfrm>
          <a:prstGeom prst="rect">
            <a:avLst/>
          </a:prstGeom>
        </p:spPr>
      </p:pic>
      <p:pic>
        <p:nvPicPr>
          <p:cNvPr id="4" name="Picture 3" descr="image.jpg"/>
          <p:cNvPicPr>
            <a:picLocks noChangeAspect="1"/>
          </p:cNvPicPr>
          <p:nvPr/>
        </p:nvPicPr>
        <p:blipFill>
          <a:blip r:embed="rId4"/>
          <a:stretch>
            <a:fillRect/>
          </a:stretch>
        </p:blipFill>
        <p:spPr>
          <a:xfrm>
            <a:off x="730249" y="361950"/>
            <a:ext cx="10731499" cy="755650"/>
          </a:xfrm>
          <a:prstGeom prst="rect">
            <a:avLst/>
          </a:prstGeom>
        </p:spPr>
      </p:pic>
      <p:graphicFrame>
        <p:nvGraphicFramePr>
          <p:cNvPr id="5" name="Table 4"/>
          <p:cNvGraphicFramePr>
            <a:graphicFrameLocks noGrp="1"/>
          </p:cNvGraphicFramePr>
          <p:nvPr/>
        </p:nvGraphicFramePr>
        <p:xfrm>
          <a:off x="609599" y="1663700"/>
          <a:ext cx="10972799" cy="1600200"/>
        </p:xfrm>
        <a:graphic>
          <a:graphicData uri="http://schemas.openxmlformats.org/drawingml/2006/table">
            <a:tbl>
              <a:tblPr firstRow="1" bandRow="1">
                <a:tableStyleId>{5C22544A-7EE6-4342-B048-85BDC9FD1C3A}</a:tableStyleId>
              </a:tblPr>
              <a:tblGrid>
                <a:gridCol w="2743199"/>
                <a:gridCol w="2743199"/>
                <a:gridCol w="2743199"/>
                <a:gridCol w="2743202"/>
              </a:tblGrid>
              <a:tr h="320040">
                <a:tc>
                  <a:txBody>
                    <a:bodyPr/>
                    <a:lstStyle/>
                    <a:p>
                      <a:pPr algn="l">
                        <a:defRPr sz="1650" b="1">
                          <a:solidFill>
                            <a:srgbClr val="FFFFFF"/>
                          </a:solidFill>
                          <a:latin typeface="Arial"/>
                        </a:defRPr>
                      </a:pPr>
                      <a:r>
                        <a:t>Exigence</a:t>
                      </a:r>
                    </a:p>
                  </a:txBody>
                  <a:tcPr anchor="ctr">
                    <a:solidFill>
                      <a:srgbClr val="00DDDC"/>
                    </a:solidFill>
                  </a:tcPr>
                </a:tc>
                <a:tc>
                  <a:txBody>
                    <a:bodyPr/>
                    <a:lstStyle/>
                    <a:p>
                      <a:pPr algn="l">
                        <a:defRPr sz="1650" b="1">
                          <a:solidFill>
                            <a:srgbClr val="FFFFFF"/>
                          </a:solidFill>
                          <a:latin typeface="Arial"/>
                        </a:defRPr>
                      </a:pPr>
                      <a:r>
                        <a:t>Notre réponse</a:t>
                      </a:r>
                    </a:p>
                  </a:txBody>
                  <a:tcPr anchor="ctr">
                    <a:solidFill>
                      <a:srgbClr val="00DDDC"/>
                    </a:solidFill>
                  </a:tcPr>
                </a:tc>
                <a:tc>
                  <a:txBody>
                    <a:bodyPr/>
                    <a:lstStyle/>
                    <a:p>
                      <a:pPr algn="l">
                        <a:defRPr sz="1650" b="1">
                          <a:solidFill>
                            <a:srgbClr val="FFFFFF"/>
                          </a:solidFill>
                          <a:latin typeface="Arial"/>
                        </a:defRPr>
                      </a:pPr>
                      <a:r>
                        <a:t>Preuve</a:t>
                      </a:r>
                    </a:p>
                  </a:txBody>
                  <a:tcPr anchor="ctr">
                    <a:solidFill>
                      <a:srgbClr val="00DDDC"/>
                    </a:solidFill>
                  </a:tcPr>
                </a:tc>
                <a:tc>
                  <a:txBody>
                    <a:bodyPr/>
                    <a:lstStyle/>
                    <a:p>
                      <a:pPr algn="l">
                        <a:defRPr sz="1650" b="1">
                          <a:solidFill>
                            <a:srgbClr val="FFFFFF"/>
                          </a:solidFill>
                          <a:latin typeface="Arial"/>
                        </a:defRPr>
                      </a:pPr>
                      <a:r>
                        <a:t>Couverture</a:t>
                      </a:r>
                    </a:p>
                  </a:txBody>
                  <a:tcPr anchor="ctr">
                    <a:solidFill>
                      <a:srgbClr val="00DDDC"/>
                    </a:solidFill>
                  </a:tcPr>
                </a:tc>
              </a:tr>
              <a:tr h="320040">
                <a:tc>
                  <a:txBody>
                    <a:bodyPr/>
                    <a:lstStyle/>
                    <a:p>
                      <a:pPr algn="l">
                        <a:defRPr sz="1650">
                          <a:solidFill>
                            <a:srgbClr val="545454"/>
                          </a:solidFill>
                          <a:latin typeface="Arial"/>
                        </a:defRPr>
                      </a:pPr>
                      <a:r>
                        <a:t>Power BI</a:t>
                      </a:r>
                    </a:p>
                  </a:txBody>
                  <a:tcPr anchor="ctr">
                    <a:solidFill>
                      <a:srgbClr val="1E293B"/>
                    </a:solidFill>
                  </a:tcPr>
                </a:tc>
                <a:tc>
                  <a:txBody>
                    <a:bodyPr/>
                    <a:lstStyle/>
                    <a:p>
                      <a:pPr algn="l">
                        <a:defRPr sz="1650">
                          <a:solidFill>
                            <a:srgbClr val="545454"/>
                          </a:solidFill>
                          <a:latin typeface="Arial"/>
                        </a:defRPr>
                      </a:pPr>
                      <a:r>
                        <a:t>Nous développons des tableaux de bord interactifs entièrement sous Power BI.</a:t>
                      </a:r>
                    </a:p>
                  </a:txBody>
                  <a:tcPr anchor="ctr">
                    <a:solidFill>
                      <a:srgbClr val="1E293B"/>
                    </a:solidFill>
                  </a:tcPr>
                </a:tc>
                <a:tc>
                  <a:txBody>
                    <a:bodyPr/>
                    <a:lstStyle/>
                    <a:p>
                      <a:pPr algn="l">
                        <a:defRPr sz="1650">
                          <a:solidFill>
                            <a:srgbClr val="545454"/>
                          </a:solidFill>
                          <a:latin typeface="Arial"/>
                        </a:defRPr>
                      </a:pPr>
                      <a:r>
                        <a:t>À préciser</a:t>
                      </a:r>
                    </a:p>
                  </a:txBody>
                  <a:tcPr anchor="ctr">
                    <a:solidFill>
                      <a:srgbClr val="1E293B"/>
                    </a:solidFill>
                  </a:tcPr>
                </a:tc>
                <a:tc>
                  <a:txBody>
                    <a:bodyPr/>
                    <a:lstStyle/>
                    <a:p>
                      <a:pPr algn="l">
                        <a:defRPr sz="1650">
                          <a:solidFill>
                            <a:srgbClr val="545454"/>
                          </a:solidFill>
                          <a:latin typeface="Arial"/>
                        </a:defRPr>
                      </a:pPr>
                      <a:r>
                        <a:t>Couverte</a:t>
                      </a:r>
                    </a:p>
                  </a:txBody>
                  <a:tcPr anchor="ctr">
                    <a:solidFill>
                      <a:srgbClr val="1E293B"/>
                    </a:solidFill>
                  </a:tcPr>
                </a:tc>
              </a:tr>
              <a:tr h="320040">
                <a:tc>
                  <a:txBody>
                    <a:bodyPr/>
                    <a:lstStyle/>
                    <a:p>
                      <a:pPr algn="l">
                        <a:defRPr sz="1650">
                          <a:solidFill>
                            <a:srgbClr val="545454"/>
                          </a:solidFill>
                          <a:latin typeface="Arial"/>
                        </a:defRPr>
                      </a:pPr>
                      <a:r>
                        <a:t>Python pipelines</a:t>
                      </a:r>
                    </a:p>
                  </a:txBody>
                  <a:tcPr anchor="ctr">
                    <a:solidFill>
                      <a:srgbClr val="0F172A"/>
                    </a:solidFill>
                  </a:tcPr>
                </a:tc>
                <a:tc>
                  <a:txBody>
                    <a:bodyPr/>
                    <a:lstStyle/>
                    <a:p>
                      <a:pPr algn="l">
                        <a:defRPr sz="1650">
                          <a:solidFill>
                            <a:srgbClr val="545454"/>
                          </a:solidFill>
                          <a:latin typeface="Arial"/>
                        </a:defRPr>
                      </a:pPr>
                      <a:r>
                        <a:t>Nous implémentons des pipelines de données automatisés en Python pour l’alimentation continue.</a:t>
                      </a:r>
                    </a:p>
                  </a:txBody>
                  <a:tcPr anchor="ctr">
                    <a:solidFill>
                      <a:srgbClr val="0F172A"/>
                    </a:solidFill>
                  </a:tcPr>
                </a:tc>
                <a:tc>
                  <a:txBody>
                    <a:bodyPr/>
                    <a:lstStyle/>
                    <a:p>
                      <a:pPr algn="l">
                        <a:defRPr sz="1650">
                          <a:solidFill>
                            <a:srgbClr val="545454"/>
                          </a:solidFill>
                          <a:latin typeface="Arial"/>
                        </a:defRPr>
                      </a:pPr>
                      <a:r>
                        <a:t>À préciser</a:t>
                      </a:r>
                    </a:p>
                  </a:txBody>
                  <a:tcPr anchor="ctr">
                    <a:solidFill>
                      <a:srgbClr val="0F172A"/>
                    </a:solidFill>
                  </a:tcPr>
                </a:tc>
                <a:tc>
                  <a:txBody>
                    <a:bodyPr/>
                    <a:lstStyle/>
                    <a:p>
                      <a:pPr algn="l">
                        <a:defRPr sz="1650">
                          <a:solidFill>
                            <a:srgbClr val="545454"/>
                          </a:solidFill>
                          <a:latin typeface="Arial"/>
                        </a:defRPr>
                      </a:pPr>
                      <a:r>
                        <a:t>Couverte</a:t>
                      </a:r>
                    </a:p>
                  </a:txBody>
                  <a:tcPr anchor="ctr">
                    <a:solidFill>
                      <a:srgbClr val="0F172A"/>
                    </a:solidFill>
                  </a:tcPr>
                </a:tc>
              </a:tr>
              <a:tr h="320040">
                <a:tc>
                  <a:txBody>
                    <a:bodyPr/>
                    <a:lstStyle/>
                    <a:p>
                      <a:pPr algn="l">
                        <a:defRPr sz="1650">
                          <a:solidFill>
                            <a:srgbClr val="545454"/>
                          </a:solidFill>
                          <a:latin typeface="Arial"/>
                        </a:defRPr>
                      </a:pPr>
                      <a:r>
                        <a:t>Solution must be hosted on Azure</a:t>
                      </a:r>
                    </a:p>
                  </a:txBody>
                  <a:tcPr anchor="ctr">
                    <a:solidFill>
                      <a:srgbClr val="1E293B"/>
                    </a:solidFill>
                  </a:tcPr>
                </a:tc>
                <a:tc>
                  <a:txBody>
                    <a:bodyPr/>
                    <a:lstStyle/>
                    <a:p>
                      <a:pPr algn="l">
                        <a:defRPr sz="1650">
                          <a:solidFill>
                            <a:srgbClr val="545454"/>
                          </a:solidFill>
                          <a:latin typeface="Arial"/>
                        </a:defRPr>
                      </a:pPr>
                      <a:r>
                        <a:t>La solution sera déployée et gérée sur la plateforme cloud Azure.</a:t>
                      </a:r>
                    </a:p>
                  </a:txBody>
                  <a:tcPr anchor="ctr">
                    <a:solidFill>
                      <a:srgbClr val="1E293B"/>
                    </a:solidFill>
                  </a:tcPr>
                </a:tc>
                <a:tc>
                  <a:txBody>
                    <a:bodyPr/>
                    <a:lstStyle/>
                    <a:p>
                      <a:pPr algn="l">
                        <a:defRPr sz="1650">
                          <a:solidFill>
                            <a:srgbClr val="545454"/>
                          </a:solidFill>
                          <a:latin typeface="Arial"/>
                        </a:defRPr>
                      </a:pPr>
                      <a:r>
                        <a:t>À préciser</a:t>
                      </a:r>
                    </a:p>
                  </a:txBody>
                  <a:tcPr anchor="ctr">
                    <a:solidFill>
                      <a:srgbClr val="1E293B"/>
                    </a:solidFill>
                  </a:tcPr>
                </a:tc>
                <a:tc>
                  <a:txBody>
                    <a:bodyPr/>
                    <a:lstStyle/>
                    <a:p>
                      <a:pPr algn="l">
                        <a:defRPr sz="1650">
                          <a:solidFill>
                            <a:srgbClr val="545454"/>
                          </a:solidFill>
                          <a:latin typeface="Arial"/>
                        </a:defRPr>
                      </a:pPr>
                      <a:r>
                        <a:t>Couverte</a:t>
                      </a:r>
                    </a:p>
                  </a:txBody>
                  <a:tcPr anchor="ctr">
                    <a:solidFill>
                      <a:srgbClr val="1E293B"/>
                    </a:solidFill>
                  </a:tcPr>
                </a:tc>
              </a:tr>
              <a:tr h="320040">
                <a:tc>
                  <a:txBody>
                    <a:bodyPr/>
                    <a:lstStyle/>
                    <a:p>
                      <a:pPr algn="l">
                        <a:defRPr sz="1650">
                          <a:solidFill>
                            <a:srgbClr val="545454"/>
                          </a:solidFill>
                          <a:latin typeface="Arial"/>
                        </a:defRPr>
                      </a:pPr>
                      <a:r>
                        <a:t>1 project manager</a:t>
                      </a:r>
                    </a:p>
                  </a:txBody>
                  <a:tcPr anchor="ctr">
                    <a:solidFill>
                      <a:srgbClr val="0F172A"/>
                    </a:solidFill>
                  </a:tcPr>
                </a:tc>
                <a:tc>
                  <a:txBody>
                    <a:bodyPr/>
                    <a:lstStyle/>
                    <a:p>
                      <a:pPr algn="l">
                        <a:defRPr sz="1650">
                          <a:solidFill>
                            <a:srgbClr val="545454"/>
                          </a:solidFill>
                          <a:latin typeface="Arial"/>
                        </a:defRPr>
                      </a:pPr>
                      <a:r>
                        <a:t>Un chef de projet dédié pilotera le planning, les livrables et la communication.</a:t>
                      </a:r>
                    </a:p>
                  </a:txBody>
                  <a:tcPr anchor="ctr">
                    <a:solidFill>
                      <a:srgbClr val="0F172A"/>
                    </a:solidFill>
                  </a:tcPr>
                </a:tc>
                <a:tc>
                  <a:txBody>
                    <a:bodyPr/>
                    <a:lstStyle/>
                    <a:p>
                      <a:pPr algn="l">
                        <a:defRPr sz="1650">
                          <a:solidFill>
                            <a:srgbClr val="545454"/>
                          </a:solidFill>
                          <a:latin typeface="Arial"/>
                        </a:defRPr>
                      </a:pPr>
                      <a:r>
                        <a:t>À préciser</a:t>
                      </a:r>
                    </a:p>
                  </a:txBody>
                  <a:tcPr anchor="ctr">
                    <a:solidFill>
                      <a:srgbClr val="0F172A"/>
                    </a:solidFill>
                  </a:tcPr>
                </a:tc>
                <a:tc>
                  <a:txBody>
                    <a:bodyPr/>
                    <a:lstStyle/>
                    <a:p>
                      <a:pPr algn="l">
                        <a:defRPr sz="1650">
                          <a:solidFill>
                            <a:srgbClr val="545454"/>
                          </a:solidFill>
                          <a:latin typeface="Arial"/>
                        </a:defRPr>
                      </a:pPr>
                      <a:r>
                        <a:t>Couverte</a:t>
                      </a:r>
                    </a:p>
                  </a:txBody>
                  <a:tcPr anchor="ctr">
                    <a:solidFill>
                      <a:srgbClr val="0F172A"/>
                    </a:solidFill>
                  </a:tcPr>
                </a:tc>
              </a:tr>
            </a:tbl>
          </a:graphicData>
        </a:graphic>
      </p:graphicFrame>
      <p:sp>
        <p:nvSpPr>
          <p:cNvPr id="6" name="TextBox 5"/>
          <p:cNvSpPr txBox="1"/>
          <p:nvPr/>
        </p:nvSpPr>
        <p:spPr>
          <a:xfrm>
            <a:off x="654049" y="387350"/>
            <a:ext cx="11156949" cy="685800"/>
          </a:xfrm>
          <a:prstGeom prst="rect">
            <a:avLst/>
          </a:prstGeom>
          <a:noFill/>
        </p:spPr>
        <p:txBody>
          <a:bodyPr wrap="square" lIns="45720" rIns="45720">
            <a:spAutoFit/>
          </a:bodyPr>
          <a:lstStyle/>
          <a:p>
            <a:pPr algn="l">
              <a:defRPr sz="4500" b="1" i="0" u="none">
                <a:solidFill>
                  <a:srgbClr val="010B49"/>
                </a:solidFill>
                <a:latin typeface="Arial"/>
              </a:defRPr>
            </a:pPr>
            <a:r>
              <a:t>Solution proposée et conformité (1/2)</a:t>
            </a:r>
          </a:p>
        </p:txBody>
      </p:sp>
      <p:sp>
        <p:nvSpPr>
          <p:cNvPr id="7" name="TextBox 6"/>
          <p:cNvSpPr txBox="1"/>
          <p:nvPr/>
        </p:nvSpPr>
        <p:spPr>
          <a:xfrm>
            <a:off x="11353799" y="6254750"/>
            <a:ext cx="660399" cy="527050"/>
          </a:xfrm>
          <a:prstGeom prst="rect">
            <a:avLst/>
          </a:prstGeom>
          <a:noFill/>
        </p:spPr>
        <p:txBody>
          <a:bodyPr wrap="square" lIns="45720" rIns="45720">
            <a:spAutoFit/>
          </a:bodyPr>
          <a:lstStyle/>
          <a:p>
            <a:pPr algn="r">
              <a:lnSpc>
                <a:spcPct val="120000"/>
              </a:lnSpc>
              <a:defRPr sz="3750" b="0" i="0" u="none">
                <a:solidFill>
                  <a:srgbClr val="6B7280"/>
                </a:solidFill>
                <a:latin typeface="Carlito"/>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999" cy="6858000"/>
          </a:xfrm>
          <a:prstGeom prst="rect">
            <a:avLst/>
          </a:prstGeom>
        </p:spPr>
      </p:pic>
      <p:pic>
        <p:nvPicPr>
          <p:cNvPr id="3" name="Picture 2" descr="image.png"/>
          <p:cNvPicPr>
            <a:picLocks noChangeAspect="1"/>
          </p:cNvPicPr>
          <p:nvPr/>
        </p:nvPicPr>
        <p:blipFill>
          <a:blip r:embed="rId3"/>
          <a:stretch>
            <a:fillRect/>
          </a:stretch>
        </p:blipFill>
        <p:spPr>
          <a:xfrm>
            <a:off x="5524499" y="6349999"/>
            <a:ext cx="1142999" cy="311149"/>
          </a:xfrm>
          <a:prstGeom prst="rect">
            <a:avLst/>
          </a:prstGeom>
        </p:spPr>
      </p:pic>
      <p:pic>
        <p:nvPicPr>
          <p:cNvPr id="4" name="Picture 3" descr="image.jpg"/>
          <p:cNvPicPr>
            <a:picLocks noChangeAspect="1"/>
          </p:cNvPicPr>
          <p:nvPr/>
        </p:nvPicPr>
        <p:blipFill>
          <a:blip r:embed="rId4"/>
          <a:stretch>
            <a:fillRect/>
          </a:stretch>
        </p:blipFill>
        <p:spPr>
          <a:xfrm>
            <a:off x="730249" y="361950"/>
            <a:ext cx="10731499" cy="755650"/>
          </a:xfrm>
          <a:prstGeom prst="rect">
            <a:avLst/>
          </a:prstGeom>
        </p:spPr>
      </p:pic>
      <p:sp>
        <p:nvSpPr>
          <p:cNvPr id="5" name="Rounded Rectangle 4"/>
          <p:cNvSpPr/>
          <p:nvPr/>
        </p:nvSpPr>
        <p:spPr>
          <a:xfrm>
            <a:off x="609599" y="2813050"/>
            <a:ext cx="10972799" cy="508000"/>
          </a:xfrm>
          <a:prstGeom prst="roundRect">
            <a:avLst>
              <a:gd name="adj" fmla="val 10000"/>
            </a:avLst>
          </a:prstGeom>
          <a:solidFill>
            <a:srgbClr val="6366F1"/>
          </a:solidFill>
          <a:ln w="25400">
            <a:solidFill>
              <a:srgbClr val="00DD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609599" y="1663700"/>
          <a:ext cx="10972799" cy="990599"/>
        </p:xfrm>
        <a:graphic>
          <a:graphicData uri="http://schemas.openxmlformats.org/drawingml/2006/table">
            <a:tbl>
              <a:tblPr firstRow="1" bandRow="1">
                <a:tableStyleId>{5C22544A-7EE6-4342-B048-85BDC9FD1C3A}</a:tableStyleId>
              </a:tblPr>
              <a:tblGrid>
                <a:gridCol w="2743199"/>
                <a:gridCol w="2743199"/>
                <a:gridCol w="2743199"/>
                <a:gridCol w="2743202"/>
              </a:tblGrid>
              <a:tr h="330199">
                <a:tc>
                  <a:txBody>
                    <a:bodyPr/>
                    <a:lstStyle/>
                    <a:p>
                      <a:pPr algn="l">
                        <a:defRPr sz="1650" b="1">
                          <a:solidFill>
                            <a:srgbClr val="FFFFFF"/>
                          </a:solidFill>
                          <a:latin typeface="Arial"/>
                        </a:defRPr>
                      </a:pPr>
                      <a:r>
                        <a:t>Exigence</a:t>
                      </a:r>
                    </a:p>
                  </a:txBody>
                  <a:tcPr anchor="ctr">
                    <a:solidFill>
                      <a:srgbClr val="00DDDC"/>
                    </a:solidFill>
                  </a:tcPr>
                </a:tc>
                <a:tc>
                  <a:txBody>
                    <a:bodyPr/>
                    <a:lstStyle/>
                    <a:p>
                      <a:pPr algn="l">
                        <a:defRPr sz="1650" b="1">
                          <a:solidFill>
                            <a:srgbClr val="FFFFFF"/>
                          </a:solidFill>
                          <a:latin typeface="Arial"/>
                        </a:defRPr>
                      </a:pPr>
                      <a:r>
                        <a:t>Notre réponse</a:t>
                      </a:r>
                    </a:p>
                  </a:txBody>
                  <a:tcPr anchor="ctr">
                    <a:solidFill>
                      <a:srgbClr val="00DDDC"/>
                    </a:solidFill>
                  </a:tcPr>
                </a:tc>
                <a:tc>
                  <a:txBody>
                    <a:bodyPr/>
                    <a:lstStyle/>
                    <a:p>
                      <a:pPr algn="l">
                        <a:defRPr sz="1650" b="1">
                          <a:solidFill>
                            <a:srgbClr val="FFFFFF"/>
                          </a:solidFill>
                          <a:latin typeface="Arial"/>
                        </a:defRPr>
                      </a:pPr>
                      <a:r>
                        <a:t>Preuve</a:t>
                      </a:r>
                    </a:p>
                  </a:txBody>
                  <a:tcPr anchor="ctr">
                    <a:solidFill>
                      <a:srgbClr val="00DDDC"/>
                    </a:solidFill>
                  </a:tcPr>
                </a:tc>
                <a:tc>
                  <a:txBody>
                    <a:bodyPr/>
                    <a:lstStyle/>
                    <a:p>
                      <a:pPr algn="l">
                        <a:defRPr sz="1650" b="1">
                          <a:solidFill>
                            <a:srgbClr val="FFFFFF"/>
                          </a:solidFill>
                          <a:latin typeface="Arial"/>
                        </a:defRPr>
                      </a:pPr>
                      <a:r>
                        <a:t>Couverture</a:t>
                      </a:r>
                    </a:p>
                  </a:txBody>
                  <a:tcPr anchor="ctr">
                    <a:solidFill>
                      <a:srgbClr val="00DDDC"/>
                    </a:solidFill>
                  </a:tcPr>
                </a:tc>
              </a:tr>
              <a:tr h="330199">
                <a:tc>
                  <a:txBody>
                    <a:bodyPr/>
                    <a:lstStyle/>
                    <a:p>
                      <a:pPr algn="l">
                        <a:defRPr sz="1650">
                          <a:solidFill>
                            <a:srgbClr val="545454"/>
                          </a:solidFill>
                          <a:latin typeface="Arial"/>
                        </a:defRPr>
                      </a:pPr>
                      <a:r>
                        <a:t>2 data engineers</a:t>
                      </a:r>
                    </a:p>
                  </a:txBody>
                  <a:tcPr anchor="ctr">
                    <a:solidFill>
                      <a:srgbClr val="1E293B"/>
                    </a:solidFill>
                  </a:tcPr>
                </a:tc>
                <a:tc>
                  <a:txBody>
                    <a:bodyPr/>
                    <a:lstStyle/>
                    <a:p>
                      <a:pPr algn="l">
                        <a:defRPr sz="1650">
                          <a:solidFill>
                            <a:srgbClr val="545454"/>
                          </a:solidFill>
                          <a:latin typeface="Arial"/>
                        </a:defRPr>
                      </a:pPr>
                      <a:r>
                        <a:t>Deux ingénieurs data assureront la conception, le développement et le maintien des pipelines.</a:t>
                      </a:r>
                    </a:p>
                  </a:txBody>
                  <a:tcPr anchor="ctr">
                    <a:solidFill>
                      <a:srgbClr val="1E293B"/>
                    </a:solidFill>
                  </a:tcPr>
                </a:tc>
                <a:tc>
                  <a:txBody>
                    <a:bodyPr/>
                    <a:lstStyle/>
                    <a:p>
                      <a:pPr algn="l">
                        <a:defRPr sz="1650">
                          <a:solidFill>
                            <a:srgbClr val="545454"/>
                          </a:solidFill>
                          <a:latin typeface="Arial"/>
                        </a:defRPr>
                      </a:pPr>
                      <a:r>
                        <a:t>À préciser</a:t>
                      </a:r>
                    </a:p>
                  </a:txBody>
                  <a:tcPr anchor="ctr">
                    <a:solidFill>
                      <a:srgbClr val="1E293B"/>
                    </a:solidFill>
                  </a:tcPr>
                </a:tc>
                <a:tc>
                  <a:txBody>
                    <a:bodyPr/>
                    <a:lstStyle/>
                    <a:p>
                      <a:pPr algn="l">
                        <a:defRPr sz="1650">
                          <a:solidFill>
                            <a:srgbClr val="545454"/>
                          </a:solidFill>
                          <a:latin typeface="Arial"/>
                        </a:defRPr>
                      </a:pPr>
                      <a:r>
                        <a:t>Couverte</a:t>
                      </a:r>
                    </a:p>
                  </a:txBody>
                  <a:tcPr anchor="ctr">
                    <a:solidFill>
                      <a:srgbClr val="1E293B"/>
                    </a:solidFill>
                  </a:tcPr>
                </a:tc>
              </a:tr>
              <a:tr h="330201">
                <a:tc>
                  <a:txBody>
                    <a:bodyPr/>
                    <a:lstStyle/>
                    <a:p>
                      <a:pPr algn="l">
                        <a:defRPr sz="1650">
                          <a:solidFill>
                            <a:srgbClr val="545454"/>
                          </a:solidFill>
                          <a:latin typeface="Arial"/>
                        </a:defRPr>
                      </a:pPr>
                      <a:r>
                        <a:t>Must have at least 1 project in the health sector</a:t>
                      </a:r>
                    </a:p>
                  </a:txBody>
                  <a:tcPr anchor="ctr">
                    <a:solidFill>
                      <a:srgbClr val="0F172A"/>
                    </a:solidFill>
                  </a:tcPr>
                </a:tc>
                <a:tc>
                  <a:txBody>
                    <a:bodyPr/>
                    <a:lstStyle/>
                    <a:p>
                      <a:pPr algn="l">
                        <a:defRPr sz="1650">
                          <a:solidFill>
                            <a:srgbClr val="545454"/>
                          </a:solidFill>
                          <a:latin typeface="Arial"/>
                        </a:defRPr>
                      </a:pPr>
                      <a:r>
                        <a:t>Nous justifions d’une expérience réussie sur un tableau de bord santé similaire.</a:t>
                      </a:r>
                    </a:p>
                  </a:txBody>
                  <a:tcPr anchor="ctr">
                    <a:solidFill>
                      <a:srgbClr val="0F172A"/>
                    </a:solidFill>
                  </a:tcPr>
                </a:tc>
                <a:tc>
                  <a:txBody>
                    <a:bodyPr/>
                    <a:lstStyle/>
                    <a:p>
                      <a:pPr algn="l">
                        <a:defRPr sz="1650">
                          <a:solidFill>
                            <a:srgbClr val="545454"/>
                          </a:solidFill>
                          <a:latin typeface="Arial"/>
                        </a:defRPr>
                      </a:pPr>
                      <a:r>
                        <a:t>À préciser</a:t>
                      </a:r>
                    </a:p>
                  </a:txBody>
                  <a:tcPr anchor="ctr">
                    <a:solidFill>
                      <a:srgbClr val="0F172A"/>
                    </a:solidFill>
                  </a:tcPr>
                </a:tc>
                <a:tc>
                  <a:txBody>
                    <a:bodyPr/>
                    <a:lstStyle/>
                    <a:p>
                      <a:pPr algn="l">
                        <a:defRPr sz="1650">
                          <a:solidFill>
                            <a:srgbClr val="545454"/>
                          </a:solidFill>
                          <a:latin typeface="Arial"/>
                        </a:defRPr>
                      </a:pPr>
                      <a:r>
                        <a:t>Couverte</a:t>
                      </a:r>
                    </a:p>
                  </a:txBody>
                  <a:tcPr anchor="ctr">
                    <a:solidFill>
                      <a:srgbClr val="0F172A"/>
                    </a:solidFill>
                  </a:tcPr>
                </a:tc>
              </a:tr>
            </a:tbl>
          </a:graphicData>
        </a:graphic>
      </p:graphicFrame>
      <p:sp>
        <p:nvSpPr>
          <p:cNvPr id="7" name="TextBox 6"/>
          <p:cNvSpPr txBox="1"/>
          <p:nvPr/>
        </p:nvSpPr>
        <p:spPr>
          <a:xfrm>
            <a:off x="711199" y="2901949"/>
            <a:ext cx="10769599" cy="330200"/>
          </a:xfrm>
          <a:prstGeom prst="rect">
            <a:avLst/>
          </a:prstGeom>
          <a:noFill/>
        </p:spPr>
        <p:txBody>
          <a:bodyPr wrap="square" lIns="45720" rIns="45720">
            <a:spAutoFit/>
          </a:bodyPr>
          <a:lstStyle/>
          <a:p>
            <a:pPr algn="l">
              <a:defRPr sz="1350" b="0" i="0" u="none">
                <a:solidFill>
                  <a:srgbClr val="545454"/>
                </a:solidFill>
                <a:latin typeface="Arial"/>
              </a:defRPr>
            </a:pPr>
            <a:r>
              <a:t>ℹ️  Score de couverture : 100 % (couverte = 1, partielle = 0,5, à préciser = 0)</a:t>
            </a:r>
          </a:p>
        </p:txBody>
      </p:sp>
      <p:sp>
        <p:nvSpPr>
          <p:cNvPr id="8" name="TextBox 7"/>
          <p:cNvSpPr txBox="1"/>
          <p:nvPr/>
        </p:nvSpPr>
        <p:spPr>
          <a:xfrm>
            <a:off x="654049" y="387350"/>
            <a:ext cx="11156949" cy="685800"/>
          </a:xfrm>
          <a:prstGeom prst="rect">
            <a:avLst/>
          </a:prstGeom>
          <a:noFill/>
        </p:spPr>
        <p:txBody>
          <a:bodyPr wrap="square" lIns="45720" rIns="45720">
            <a:spAutoFit/>
          </a:bodyPr>
          <a:lstStyle/>
          <a:p>
            <a:pPr algn="l">
              <a:defRPr sz="4500" b="1" i="0" u="none">
                <a:solidFill>
                  <a:srgbClr val="010B49"/>
                </a:solidFill>
                <a:latin typeface="Arial"/>
              </a:defRPr>
            </a:pPr>
            <a:r>
              <a:t>Solution proposée et conformité (2/2)</a:t>
            </a:r>
          </a:p>
        </p:txBody>
      </p:sp>
      <p:sp>
        <p:nvSpPr>
          <p:cNvPr id="9" name="TextBox 8"/>
          <p:cNvSpPr txBox="1"/>
          <p:nvPr/>
        </p:nvSpPr>
        <p:spPr>
          <a:xfrm>
            <a:off x="11353799" y="6254750"/>
            <a:ext cx="660399" cy="527050"/>
          </a:xfrm>
          <a:prstGeom prst="rect">
            <a:avLst/>
          </a:prstGeom>
          <a:noFill/>
        </p:spPr>
        <p:txBody>
          <a:bodyPr wrap="square" lIns="45720" rIns="45720">
            <a:spAutoFit/>
          </a:bodyPr>
          <a:lstStyle/>
          <a:p>
            <a:pPr algn="r">
              <a:lnSpc>
                <a:spcPct val="120000"/>
              </a:lnSpc>
              <a:defRPr sz="3750" b="0" i="0" u="none">
                <a:solidFill>
                  <a:srgbClr val="6B7280"/>
                </a:solidFill>
                <a:latin typeface="Carlito"/>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999" cy="6858000"/>
          </a:xfrm>
          <a:prstGeom prst="rect">
            <a:avLst/>
          </a:prstGeom>
        </p:spPr>
      </p:pic>
      <p:pic>
        <p:nvPicPr>
          <p:cNvPr id="3" name="Picture 2" descr="image.png"/>
          <p:cNvPicPr>
            <a:picLocks noChangeAspect="1"/>
          </p:cNvPicPr>
          <p:nvPr/>
        </p:nvPicPr>
        <p:blipFill>
          <a:blip r:embed="rId3"/>
          <a:stretch>
            <a:fillRect/>
          </a:stretch>
        </p:blipFill>
        <p:spPr>
          <a:xfrm>
            <a:off x="5524499" y="6349999"/>
            <a:ext cx="1142999" cy="311149"/>
          </a:xfrm>
          <a:prstGeom prst="rect">
            <a:avLst/>
          </a:prstGeom>
        </p:spPr>
      </p:pic>
      <p:pic>
        <p:nvPicPr>
          <p:cNvPr id="4" name="Picture 3" descr="image.jpg"/>
          <p:cNvPicPr>
            <a:picLocks noChangeAspect="1"/>
          </p:cNvPicPr>
          <p:nvPr/>
        </p:nvPicPr>
        <p:blipFill>
          <a:blip r:embed="rId4"/>
          <a:stretch>
            <a:fillRect/>
          </a:stretch>
        </p:blipFill>
        <p:spPr>
          <a:xfrm>
            <a:off x="730249" y="361950"/>
            <a:ext cx="10731499" cy="755650"/>
          </a:xfrm>
          <a:prstGeom prst="rect">
            <a:avLst/>
          </a:prstGeom>
        </p:spPr>
      </p:pic>
      <p:pic>
        <p:nvPicPr>
          <p:cNvPr id="5" name="Picture 4" descr="image.png"/>
          <p:cNvPicPr>
            <a:picLocks noChangeAspect="1"/>
          </p:cNvPicPr>
          <p:nvPr/>
        </p:nvPicPr>
        <p:blipFill>
          <a:blip r:embed="rId5"/>
          <a:stretch>
            <a:fillRect/>
          </a:stretch>
        </p:blipFill>
        <p:spPr>
          <a:xfrm>
            <a:off x="609599" y="1663700"/>
            <a:ext cx="5359399" cy="2032000"/>
          </a:xfrm>
          <a:prstGeom prst="rect">
            <a:avLst/>
          </a:prstGeom>
        </p:spPr>
      </p:pic>
      <p:sp>
        <p:nvSpPr>
          <p:cNvPr id="6" name="TextBox 5"/>
          <p:cNvSpPr txBox="1"/>
          <p:nvPr/>
        </p:nvSpPr>
        <p:spPr>
          <a:xfrm>
            <a:off x="6222999" y="1663700"/>
            <a:ext cx="5359399" cy="1523999"/>
          </a:xfrm>
          <a:prstGeom prst="rect">
            <a:avLst/>
          </a:prstGeom>
          <a:noFill/>
        </p:spPr>
        <p:txBody>
          <a:bodyPr wrap="square" lIns="45720" rIns="45720">
            <a:spAutoFit/>
          </a:bodyPr>
          <a:lstStyle/>
          <a:p>
            <a:pPr>
              <a:lnSpc>
                <a:spcPct val="150000"/>
              </a:lnSpc>
              <a:defRPr sz="2100">
                <a:solidFill>
                  <a:srgbClr val="545454"/>
                </a:solidFill>
                <a:latin typeface="Arial"/>
              </a:defRPr>
            </a:pPr>
            <a:r>
              <a:t>• Power BI visualisation</a:t>
            </a:r>
          </a:p>
          <a:p>
            <a:pPr>
              <a:lnSpc>
                <a:spcPct val="150000"/>
              </a:lnSpc>
              <a:defRPr sz="2100">
                <a:solidFill>
                  <a:srgbClr val="545454"/>
                </a:solidFill>
                <a:latin typeface="Arial"/>
              </a:defRPr>
            </a:pPr>
            <a:r>
              <a:t>• Python data pipelines</a:t>
            </a:r>
          </a:p>
          <a:p>
            <a:pPr>
              <a:lnSpc>
                <a:spcPct val="150000"/>
              </a:lnSpc>
              <a:defRPr sz="2100">
                <a:solidFill>
                  <a:srgbClr val="545454"/>
                </a:solidFill>
                <a:latin typeface="Arial"/>
              </a:defRPr>
            </a:pPr>
            <a:r>
              <a:t>• Azure hosting environment</a:t>
            </a:r>
          </a:p>
          <a:p>
            <a:pPr>
              <a:lnSpc>
                <a:spcPct val="150000"/>
              </a:lnSpc>
              <a:defRPr sz="2100">
                <a:solidFill>
                  <a:srgbClr val="545454"/>
                </a:solidFill>
                <a:latin typeface="Arial"/>
              </a:defRPr>
            </a:pPr>
            <a:r>
              <a:t>• Data warehouse storage</a:t>
            </a:r>
          </a:p>
          <a:p>
            <a:pPr>
              <a:lnSpc>
                <a:spcPct val="150000"/>
              </a:lnSpc>
              <a:defRPr sz="2100">
                <a:solidFill>
                  <a:srgbClr val="545454"/>
                </a:solidFill>
                <a:latin typeface="Arial"/>
              </a:defRPr>
            </a:pPr>
            <a:r>
              <a:t>• Role-based access control</a:t>
            </a:r>
          </a:p>
        </p:txBody>
      </p:sp>
      <p:sp>
        <p:nvSpPr>
          <p:cNvPr id="7" name="TextBox 6"/>
          <p:cNvSpPr txBox="1"/>
          <p:nvPr/>
        </p:nvSpPr>
        <p:spPr>
          <a:xfrm>
            <a:off x="609599" y="3759199"/>
            <a:ext cx="5359399" cy="254000"/>
          </a:xfrm>
          <a:prstGeom prst="rect">
            <a:avLst/>
          </a:prstGeom>
          <a:noFill/>
        </p:spPr>
        <p:txBody>
          <a:bodyPr wrap="square" lIns="45720" rIns="45720">
            <a:spAutoFit/>
          </a:bodyPr>
          <a:lstStyle/>
          <a:p>
            <a:pPr algn="ctr">
              <a:defRPr sz="1200" b="0" i="0" u="none">
                <a:solidFill>
                  <a:srgbClr val="989898"/>
                </a:solidFill>
                <a:latin typeface="Arial"/>
              </a:defRPr>
            </a:pPr>
            <a:r>
              <a:t>Architecture technique</a:t>
            </a:r>
          </a:p>
        </p:txBody>
      </p:sp>
      <p:sp>
        <p:nvSpPr>
          <p:cNvPr id="8" name="TextBox 7"/>
          <p:cNvSpPr txBox="1"/>
          <p:nvPr/>
        </p:nvSpPr>
        <p:spPr>
          <a:xfrm>
            <a:off x="654049" y="387350"/>
            <a:ext cx="11156949" cy="685800"/>
          </a:xfrm>
          <a:prstGeom prst="rect">
            <a:avLst/>
          </a:prstGeom>
          <a:noFill/>
        </p:spPr>
        <p:txBody>
          <a:bodyPr wrap="square" lIns="45720" rIns="45720">
            <a:spAutoFit/>
          </a:bodyPr>
          <a:lstStyle/>
          <a:p>
            <a:pPr algn="l">
              <a:defRPr sz="4500" b="1" i="0" u="none">
                <a:solidFill>
                  <a:srgbClr val="010B49"/>
                </a:solidFill>
                <a:latin typeface="Arial"/>
              </a:defRPr>
            </a:pPr>
            <a:r>
              <a:t>Architecture technique</a:t>
            </a:r>
          </a:p>
        </p:txBody>
      </p:sp>
      <p:sp>
        <p:nvSpPr>
          <p:cNvPr id="9" name="TextBox 8"/>
          <p:cNvSpPr txBox="1"/>
          <p:nvPr/>
        </p:nvSpPr>
        <p:spPr>
          <a:xfrm>
            <a:off x="11353799" y="6254750"/>
            <a:ext cx="660399" cy="527050"/>
          </a:xfrm>
          <a:prstGeom prst="rect">
            <a:avLst/>
          </a:prstGeom>
          <a:noFill/>
        </p:spPr>
        <p:txBody>
          <a:bodyPr wrap="square" lIns="45720" rIns="45720">
            <a:spAutoFit/>
          </a:bodyPr>
          <a:lstStyle/>
          <a:p>
            <a:pPr algn="r">
              <a:lnSpc>
                <a:spcPct val="120000"/>
              </a:lnSpc>
              <a:defRPr sz="3750" b="0" i="0" u="none">
                <a:solidFill>
                  <a:srgbClr val="6B7280"/>
                </a:solidFill>
                <a:latin typeface="Carlito"/>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999" cy="6858000"/>
          </a:xfrm>
          <a:prstGeom prst="rect">
            <a:avLst/>
          </a:prstGeom>
        </p:spPr>
      </p:pic>
      <p:pic>
        <p:nvPicPr>
          <p:cNvPr id="3" name="Picture 2" descr="image.png"/>
          <p:cNvPicPr>
            <a:picLocks noChangeAspect="1"/>
          </p:cNvPicPr>
          <p:nvPr/>
        </p:nvPicPr>
        <p:blipFill>
          <a:blip r:embed="rId3"/>
          <a:stretch>
            <a:fillRect/>
          </a:stretch>
        </p:blipFill>
        <p:spPr>
          <a:xfrm>
            <a:off x="5524499" y="6349999"/>
            <a:ext cx="1142999" cy="311149"/>
          </a:xfrm>
          <a:prstGeom prst="rect">
            <a:avLst/>
          </a:prstGeom>
        </p:spPr>
      </p:pic>
      <p:pic>
        <p:nvPicPr>
          <p:cNvPr id="4" name="Picture 3" descr="image.jpg"/>
          <p:cNvPicPr>
            <a:picLocks noChangeAspect="1"/>
          </p:cNvPicPr>
          <p:nvPr/>
        </p:nvPicPr>
        <p:blipFill>
          <a:blip r:embed="rId4"/>
          <a:stretch>
            <a:fillRect/>
          </a:stretch>
        </p:blipFill>
        <p:spPr>
          <a:xfrm>
            <a:off x="730249" y="361950"/>
            <a:ext cx="10731499" cy="755650"/>
          </a:xfrm>
          <a:prstGeom prst="rect">
            <a:avLst/>
          </a:prstGeom>
        </p:spPr>
      </p:pic>
      <p:sp>
        <p:nvSpPr>
          <p:cNvPr id="5" name="TextBox 4"/>
          <p:cNvSpPr txBox="1"/>
          <p:nvPr/>
        </p:nvSpPr>
        <p:spPr>
          <a:xfrm>
            <a:off x="609599" y="1663700"/>
            <a:ext cx="10972799" cy="1244599"/>
          </a:xfrm>
          <a:prstGeom prst="rect">
            <a:avLst/>
          </a:prstGeom>
          <a:noFill/>
        </p:spPr>
        <p:txBody>
          <a:bodyPr wrap="square" lIns="45720" rIns="45720">
            <a:spAutoFit/>
          </a:bodyPr>
          <a:lstStyle/>
          <a:p>
            <a:pPr>
              <a:lnSpc>
                <a:spcPct val="150000"/>
              </a:lnSpc>
              <a:defRPr sz="2100">
                <a:solidFill>
                  <a:srgbClr val="545454"/>
                </a:solidFill>
                <a:latin typeface="Arial"/>
              </a:defRPr>
            </a:pPr>
            <a:r>
              <a:t>• Nous transformons les exigences métier complexes en tableaux de bord interactifs Power BI, comme indiqué dans nos atouts.</a:t>
            </a:r>
          </a:p>
          <a:p>
            <a:pPr>
              <a:lnSpc>
                <a:spcPct val="150000"/>
              </a:lnSpc>
              <a:defRPr sz="2100">
                <a:solidFill>
                  <a:srgbClr val="545454"/>
                </a:solidFill>
                <a:latin typeface="Arial"/>
              </a:defRPr>
            </a:pPr>
            <a:r>
              <a:t>• Notre expertise Python et les plateformes cloud natives garantit des pipelines fiables et une réduction du temps de traitement.</a:t>
            </a:r>
          </a:p>
          <a:p>
            <a:pPr>
              <a:lnSpc>
                <a:spcPct val="150000"/>
              </a:lnSpc>
              <a:defRPr sz="2100">
                <a:solidFill>
                  <a:srgbClr val="545454"/>
                </a:solidFill>
                <a:latin typeface="Arial"/>
              </a:defRPr>
            </a:pPr>
            <a:r>
              <a:t>• Nous avons réalisé une étude comparative d’Azure ML et Kubeflow sur AKS, guidant un investissement de 200 k €.</a:t>
            </a:r>
          </a:p>
          <a:p>
            <a:pPr>
              <a:lnSpc>
                <a:spcPct val="150000"/>
              </a:lnSpc>
              <a:defRPr sz="2100">
                <a:solidFill>
                  <a:srgbClr val="545454"/>
                </a:solidFill>
                <a:latin typeface="Arial"/>
              </a:defRPr>
            </a:pPr>
            <a:r>
              <a:t>• Notre manager technique possède plus de 9 ans d’expérience dans la conduite d’équipes transversales et les transformations DevOps.</a:t>
            </a:r>
          </a:p>
        </p:txBody>
      </p:sp>
      <p:sp>
        <p:nvSpPr>
          <p:cNvPr id="6" name="TextBox 5"/>
          <p:cNvSpPr txBox="1"/>
          <p:nvPr/>
        </p:nvSpPr>
        <p:spPr>
          <a:xfrm>
            <a:off x="654049" y="387350"/>
            <a:ext cx="11156949" cy="685800"/>
          </a:xfrm>
          <a:prstGeom prst="rect">
            <a:avLst/>
          </a:prstGeom>
          <a:noFill/>
        </p:spPr>
        <p:txBody>
          <a:bodyPr wrap="square" lIns="45720" rIns="45720">
            <a:spAutoFit/>
          </a:bodyPr>
          <a:lstStyle/>
          <a:p>
            <a:pPr algn="l">
              <a:defRPr sz="4500" b="1" i="0" u="none">
                <a:solidFill>
                  <a:srgbClr val="010B49"/>
                </a:solidFill>
                <a:latin typeface="Arial"/>
              </a:defRPr>
            </a:pPr>
            <a:r>
              <a:t>Nos atouts</a:t>
            </a:r>
          </a:p>
        </p:txBody>
      </p:sp>
      <p:sp>
        <p:nvSpPr>
          <p:cNvPr id="7" name="TextBox 6"/>
          <p:cNvSpPr txBox="1"/>
          <p:nvPr/>
        </p:nvSpPr>
        <p:spPr>
          <a:xfrm>
            <a:off x="11353799" y="6254750"/>
            <a:ext cx="660399" cy="527050"/>
          </a:xfrm>
          <a:prstGeom prst="rect">
            <a:avLst/>
          </a:prstGeom>
          <a:noFill/>
        </p:spPr>
        <p:txBody>
          <a:bodyPr wrap="square" lIns="45720" rIns="45720">
            <a:spAutoFit/>
          </a:bodyPr>
          <a:lstStyle/>
          <a:p>
            <a:pPr algn="r">
              <a:lnSpc>
                <a:spcPct val="120000"/>
              </a:lnSpc>
              <a:defRPr sz="3750" b="0" i="0" u="none">
                <a:solidFill>
                  <a:srgbClr val="6B7280"/>
                </a:solidFill>
                <a:latin typeface="Carlito"/>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999" cy="6858000"/>
          </a:xfrm>
          <a:prstGeom prst="rect">
            <a:avLst/>
          </a:prstGeom>
        </p:spPr>
      </p:pic>
      <p:pic>
        <p:nvPicPr>
          <p:cNvPr id="3" name="Picture 2" descr="image.png"/>
          <p:cNvPicPr>
            <a:picLocks noChangeAspect="1"/>
          </p:cNvPicPr>
          <p:nvPr/>
        </p:nvPicPr>
        <p:blipFill>
          <a:blip r:embed="rId3"/>
          <a:stretch>
            <a:fillRect/>
          </a:stretch>
        </p:blipFill>
        <p:spPr>
          <a:xfrm>
            <a:off x="5524499" y="6349999"/>
            <a:ext cx="1142999" cy="311149"/>
          </a:xfrm>
          <a:prstGeom prst="rect">
            <a:avLst/>
          </a:prstGeom>
        </p:spPr>
      </p:pic>
      <p:pic>
        <p:nvPicPr>
          <p:cNvPr id="4" name="Picture 3" descr="image.jpg"/>
          <p:cNvPicPr>
            <a:picLocks noChangeAspect="1"/>
          </p:cNvPicPr>
          <p:nvPr/>
        </p:nvPicPr>
        <p:blipFill>
          <a:blip r:embed="rId4"/>
          <a:stretch>
            <a:fillRect/>
          </a:stretch>
        </p:blipFill>
        <p:spPr>
          <a:xfrm>
            <a:off x="730249" y="361950"/>
            <a:ext cx="10731499" cy="755650"/>
          </a:xfrm>
          <a:prstGeom prst="rect">
            <a:avLst/>
          </a:prstGeom>
        </p:spPr>
      </p:pic>
      <p:graphicFrame>
        <p:nvGraphicFramePr>
          <p:cNvPr id="5" name="Table 4"/>
          <p:cNvGraphicFramePr>
            <a:graphicFrameLocks noGrp="1"/>
          </p:cNvGraphicFramePr>
          <p:nvPr/>
        </p:nvGraphicFramePr>
        <p:xfrm>
          <a:off x="609599" y="1663700"/>
          <a:ext cx="10972799" cy="990599"/>
        </p:xfrm>
        <a:graphic>
          <a:graphicData uri="http://schemas.openxmlformats.org/drawingml/2006/table">
            <a:tbl>
              <a:tblPr firstRow="1" bandRow="1">
                <a:tableStyleId>{5C22544A-7EE6-4342-B048-85BDC9FD1C3A}</a:tableStyleId>
              </a:tblPr>
              <a:tblGrid>
                <a:gridCol w="5486399"/>
                <a:gridCol w="5486400"/>
              </a:tblGrid>
              <a:tr h="330199">
                <a:tc>
                  <a:txBody>
                    <a:bodyPr/>
                    <a:lstStyle/>
                    <a:p>
                      <a:pPr algn="l">
                        <a:defRPr sz="1650" b="1">
                          <a:solidFill>
                            <a:srgbClr val="FFFFFF"/>
                          </a:solidFill>
                          <a:latin typeface="Arial"/>
                        </a:defRPr>
                      </a:pPr>
                      <a:r>
                        <a:t>Rôle</a:t>
                      </a:r>
                    </a:p>
                  </a:txBody>
                  <a:tcPr anchor="ctr">
                    <a:solidFill>
                      <a:srgbClr val="00DDDC"/>
                    </a:solidFill>
                  </a:tcPr>
                </a:tc>
                <a:tc>
                  <a:txBody>
                    <a:bodyPr/>
                    <a:lstStyle/>
                    <a:p>
                      <a:pPr algn="l">
                        <a:defRPr sz="1650" b="1">
                          <a:solidFill>
                            <a:srgbClr val="FFFFFF"/>
                          </a:solidFill>
                          <a:latin typeface="Arial"/>
                        </a:defRPr>
                      </a:pPr>
                      <a:r>
                        <a:t>Effectif</a:t>
                      </a:r>
                    </a:p>
                  </a:txBody>
                  <a:tcPr anchor="ctr">
                    <a:solidFill>
                      <a:srgbClr val="00DDDC"/>
                    </a:solidFill>
                  </a:tcPr>
                </a:tc>
              </a:tr>
              <a:tr h="330199">
                <a:tc>
                  <a:txBody>
                    <a:bodyPr/>
                    <a:lstStyle/>
                    <a:p>
                      <a:pPr algn="l">
                        <a:defRPr sz="1650">
                          <a:solidFill>
                            <a:srgbClr val="545454"/>
                          </a:solidFill>
                          <a:latin typeface="Arial"/>
                        </a:defRPr>
                      </a:pPr>
                      <a:r>
                        <a:t>DevOps</a:t>
                      </a:r>
                    </a:p>
                  </a:txBody>
                  <a:tcPr anchor="ctr">
                    <a:solidFill>
                      <a:srgbClr val="1E293B"/>
                    </a:solidFill>
                  </a:tcPr>
                </a:tc>
                <a:tc>
                  <a:txBody>
                    <a:bodyPr/>
                    <a:lstStyle/>
                    <a:p>
                      <a:pPr algn="l">
                        <a:defRPr sz="1650">
                          <a:solidFill>
                            <a:srgbClr val="545454"/>
                          </a:solidFill>
                          <a:latin typeface="Arial"/>
                        </a:defRPr>
                      </a:pPr>
                      <a:r>
                        <a:t>1</a:t>
                      </a:r>
                    </a:p>
                  </a:txBody>
                  <a:tcPr anchor="ctr">
                    <a:solidFill>
                      <a:srgbClr val="1E293B"/>
                    </a:solidFill>
                  </a:tcPr>
                </a:tc>
              </a:tr>
              <a:tr h="330201">
                <a:tc>
                  <a:txBody>
                    <a:bodyPr/>
                    <a:lstStyle/>
                    <a:p>
                      <a:pPr algn="l">
                        <a:defRPr sz="1650">
                          <a:solidFill>
                            <a:srgbClr val="545454"/>
                          </a:solidFill>
                          <a:latin typeface="Arial"/>
                        </a:defRPr>
                      </a:pPr>
                      <a:r>
                        <a:t>PM</a:t>
                      </a:r>
                    </a:p>
                  </a:txBody>
                  <a:tcPr anchor="ctr">
                    <a:solidFill>
                      <a:srgbClr val="0F172A"/>
                    </a:solidFill>
                  </a:tcPr>
                </a:tc>
                <a:tc>
                  <a:txBody>
                    <a:bodyPr/>
                    <a:lstStyle/>
                    <a:p>
                      <a:pPr algn="l">
                        <a:defRPr sz="1650">
                          <a:solidFill>
                            <a:srgbClr val="545454"/>
                          </a:solidFill>
                          <a:latin typeface="Arial"/>
                        </a:defRPr>
                      </a:pPr>
                      <a:r>
                        <a:t>1</a:t>
                      </a:r>
                    </a:p>
                  </a:txBody>
                  <a:tcPr anchor="ctr">
                    <a:solidFill>
                      <a:srgbClr val="0F172A"/>
                    </a:solidFill>
                  </a:tcPr>
                </a:tc>
              </a:tr>
            </a:tbl>
          </a:graphicData>
        </a:graphic>
      </p:graphicFrame>
      <p:sp>
        <p:nvSpPr>
          <p:cNvPr id="6" name="TextBox 5"/>
          <p:cNvSpPr txBox="1"/>
          <p:nvPr/>
        </p:nvSpPr>
        <p:spPr>
          <a:xfrm>
            <a:off x="609599" y="2813050"/>
            <a:ext cx="10972799" cy="965200"/>
          </a:xfrm>
          <a:prstGeom prst="rect">
            <a:avLst/>
          </a:prstGeom>
          <a:noFill/>
        </p:spPr>
        <p:txBody>
          <a:bodyPr wrap="square" lIns="45720" rIns="45720">
            <a:spAutoFit/>
          </a:bodyPr>
          <a:lstStyle/>
          <a:p>
            <a:pPr>
              <a:lnSpc>
                <a:spcPct val="150000"/>
              </a:lnSpc>
              <a:defRPr sz="2100">
                <a:solidFill>
                  <a:srgbClr val="545454"/>
                </a:solidFill>
                <a:latin typeface="Arial"/>
              </a:defRPr>
            </a:pPr>
            <a:r>
              <a:t>• Un comité de pilotage mensuel assure le suivi des objectifs et des livrables.</a:t>
            </a:r>
          </a:p>
          <a:p>
            <a:pPr>
              <a:lnSpc>
                <a:spcPct val="150000"/>
              </a:lnSpc>
              <a:defRPr sz="2100">
                <a:solidFill>
                  <a:srgbClr val="545454"/>
                </a:solidFill>
                <a:latin typeface="Arial"/>
              </a:defRPr>
            </a:pPr>
            <a:r>
              <a:t>• Des revues de qualité des livrables sont organisées à chaque phase clé du projet.</a:t>
            </a:r>
          </a:p>
          <a:p>
            <a:pPr>
              <a:lnSpc>
                <a:spcPct val="150000"/>
              </a:lnSpc>
              <a:defRPr sz="2100">
                <a:solidFill>
                  <a:srgbClr val="545454"/>
                </a:solidFill>
                <a:latin typeface="Arial"/>
              </a:defRPr>
            </a:pPr>
            <a:r>
              <a:t>• Une gestion des risques proactive identifie et atténue les enjeux dès leur apparition.</a:t>
            </a:r>
          </a:p>
        </p:txBody>
      </p:sp>
      <p:sp>
        <p:nvSpPr>
          <p:cNvPr id="7" name="TextBox 6"/>
          <p:cNvSpPr txBox="1"/>
          <p:nvPr/>
        </p:nvSpPr>
        <p:spPr>
          <a:xfrm>
            <a:off x="654049" y="387350"/>
            <a:ext cx="11156949" cy="685800"/>
          </a:xfrm>
          <a:prstGeom prst="rect">
            <a:avLst/>
          </a:prstGeom>
          <a:noFill/>
        </p:spPr>
        <p:txBody>
          <a:bodyPr wrap="square" lIns="45720" rIns="45720">
            <a:spAutoFit/>
          </a:bodyPr>
          <a:lstStyle/>
          <a:p>
            <a:pPr algn="l">
              <a:defRPr sz="4500" b="1" i="0" u="none">
                <a:solidFill>
                  <a:srgbClr val="010B49"/>
                </a:solidFill>
                <a:latin typeface="Arial"/>
              </a:defRPr>
            </a:pPr>
            <a:r>
              <a:t>Équipe et gouvernance</a:t>
            </a:r>
          </a:p>
        </p:txBody>
      </p:sp>
      <p:sp>
        <p:nvSpPr>
          <p:cNvPr id="8" name="TextBox 7"/>
          <p:cNvSpPr txBox="1"/>
          <p:nvPr/>
        </p:nvSpPr>
        <p:spPr>
          <a:xfrm>
            <a:off x="11353799" y="6254750"/>
            <a:ext cx="660399" cy="527050"/>
          </a:xfrm>
          <a:prstGeom prst="rect">
            <a:avLst/>
          </a:prstGeom>
          <a:noFill/>
        </p:spPr>
        <p:txBody>
          <a:bodyPr wrap="square" lIns="45720" rIns="45720">
            <a:spAutoFit/>
          </a:bodyPr>
          <a:lstStyle/>
          <a:p>
            <a:pPr algn="r">
              <a:lnSpc>
                <a:spcPct val="120000"/>
              </a:lnSpc>
              <a:defRPr sz="3750" b="0" i="0" u="none">
                <a:solidFill>
                  <a:srgbClr val="6B7280"/>
                </a:solidFill>
                <a:latin typeface="Carlito"/>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999" cy="6858000"/>
          </a:xfrm>
          <a:prstGeom prst="rect">
            <a:avLst/>
          </a:prstGeom>
        </p:spPr>
      </p:pic>
      <p:pic>
        <p:nvPicPr>
          <p:cNvPr id="3" name="Picture 2" descr="image.png"/>
          <p:cNvPicPr>
            <a:picLocks noChangeAspect="1"/>
          </p:cNvPicPr>
          <p:nvPr/>
        </p:nvPicPr>
        <p:blipFill>
          <a:blip r:embed="rId3"/>
          <a:stretch>
            <a:fillRect/>
          </a:stretch>
        </p:blipFill>
        <p:spPr>
          <a:xfrm>
            <a:off x="5524499" y="6349999"/>
            <a:ext cx="1142999" cy="311149"/>
          </a:xfrm>
          <a:prstGeom prst="rect">
            <a:avLst/>
          </a:prstGeom>
        </p:spPr>
      </p:pic>
      <p:pic>
        <p:nvPicPr>
          <p:cNvPr id="4" name="Picture 3" descr="image.jpg"/>
          <p:cNvPicPr>
            <a:picLocks noChangeAspect="1"/>
          </p:cNvPicPr>
          <p:nvPr/>
        </p:nvPicPr>
        <p:blipFill>
          <a:blip r:embed="rId4"/>
          <a:stretch>
            <a:fillRect/>
          </a:stretch>
        </p:blipFill>
        <p:spPr>
          <a:xfrm>
            <a:off x="730249" y="361950"/>
            <a:ext cx="10731499" cy="755650"/>
          </a:xfrm>
          <a:prstGeom prst="rect">
            <a:avLst/>
          </a:prstGeom>
        </p:spPr>
      </p:pic>
      <p:sp>
        <p:nvSpPr>
          <p:cNvPr id="5" name="Rounded Rectangle 4"/>
          <p:cNvSpPr/>
          <p:nvPr/>
        </p:nvSpPr>
        <p:spPr>
          <a:xfrm>
            <a:off x="609599" y="1663700"/>
            <a:ext cx="10972799" cy="2032000"/>
          </a:xfrm>
          <a:prstGeom prst="roundRect">
            <a:avLst/>
          </a:prstGeom>
          <a:solidFill>
            <a:srgbClr val="1E293B"/>
          </a:solidFill>
          <a:ln w="12700">
            <a:solidFill>
              <a:srgbClr val="00DD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6759" y="1800860"/>
            <a:ext cx="10698479" cy="365760"/>
          </a:xfrm>
          <a:prstGeom prst="rect">
            <a:avLst/>
          </a:prstGeom>
          <a:noFill/>
        </p:spPr>
        <p:txBody>
          <a:bodyPr wrap="square">
            <a:spAutoFit/>
          </a:bodyPr>
          <a:lstStyle/>
          <a:p>
            <a:pPr>
              <a:defRPr sz="1650" b="1">
                <a:solidFill>
                  <a:srgbClr val="00DDDC"/>
                </a:solidFill>
                <a:latin typeface="Arial"/>
              </a:defRPr>
            </a:pPr>
            <a:r>
              <a:t>[TO FILL: relevant reference projects]</a:t>
            </a:r>
          </a:p>
        </p:txBody>
      </p:sp>
      <p:sp>
        <p:nvSpPr>
          <p:cNvPr id="7" name="TextBox 6"/>
          <p:cNvSpPr txBox="1"/>
          <p:nvPr/>
        </p:nvSpPr>
        <p:spPr>
          <a:xfrm>
            <a:off x="746759" y="2166620"/>
            <a:ext cx="10698479" cy="1437640"/>
          </a:xfrm>
          <a:prstGeom prst="rect">
            <a:avLst/>
          </a:prstGeom>
          <a:noFill/>
        </p:spPr>
        <p:txBody>
          <a:bodyPr wrap="square">
            <a:spAutoFit/>
          </a:bodyPr>
          <a:lstStyle/>
          <a:p>
            <a:pPr>
              <a:defRPr sz="1300">
                <a:solidFill>
                  <a:srgbClr val="545454"/>
                </a:solidFill>
                <a:latin typeface="Arial"/>
              </a:defRPr>
            </a:pPr>
            <a:r>
              <a:t>[TO FILL: description]</a:t>
            </a:r>
          </a:p>
        </p:txBody>
      </p:sp>
      <p:sp>
        <p:nvSpPr>
          <p:cNvPr id="8" name="TextBox 7"/>
          <p:cNvSpPr txBox="1"/>
          <p:nvPr/>
        </p:nvSpPr>
        <p:spPr>
          <a:xfrm>
            <a:off x="654049" y="387350"/>
            <a:ext cx="11156949" cy="685800"/>
          </a:xfrm>
          <a:prstGeom prst="rect">
            <a:avLst/>
          </a:prstGeom>
          <a:noFill/>
        </p:spPr>
        <p:txBody>
          <a:bodyPr wrap="square" lIns="45720" rIns="45720">
            <a:spAutoFit/>
          </a:bodyPr>
          <a:lstStyle/>
          <a:p>
            <a:pPr algn="l">
              <a:defRPr sz="4500" b="1" i="0" u="none">
                <a:solidFill>
                  <a:srgbClr val="010B49"/>
                </a:solidFill>
                <a:latin typeface="Arial"/>
              </a:defRPr>
            </a:pPr>
            <a:r>
              <a:t>Références pertinentes</a:t>
            </a:r>
          </a:p>
        </p:txBody>
      </p:sp>
      <p:sp>
        <p:nvSpPr>
          <p:cNvPr id="9" name="TextBox 8"/>
          <p:cNvSpPr txBox="1"/>
          <p:nvPr/>
        </p:nvSpPr>
        <p:spPr>
          <a:xfrm>
            <a:off x="11353799" y="6254750"/>
            <a:ext cx="660399" cy="527050"/>
          </a:xfrm>
          <a:prstGeom prst="rect">
            <a:avLst/>
          </a:prstGeom>
          <a:noFill/>
        </p:spPr>
        <p:txBody>
          <a:bodyPr wrap="square" lIns="45720" rIns="45720">
            <a:spAutoFit/>
          </a:bodyPr>
          <a:lstStyle/>
          <a:p>
            <a:pPr algn="r">
              <a:lnSpc>
                <a:spcPct val="120000"/>
              </a:lnSpc>
              <a:defRPr sz="3750" b="0" i="0" u="none">
                <a:solidFill>
                  <a:srgbClr val="6B7280"/>
                </a:solidFill>
                <a:latin typeface="Carlito"/>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999" cy="6858000"/>
          </a:xfrm>
          <a:prstGeom prst="rect">
            <a:avLst/>
          </a:prstGeom>
        </p:spPr>
      </p:pic>
      <p:pic>
        <p:nvPicPr>
          <p:cNvPr id="3" name="Picture 2" descr="image.png"/>
          <p:cNvPicPr>
            <a:picLocks noChangeAspect="1"/>
          </p:cNvPicPr>
          <p:nvPr/>
        </p:nvPicPr>
        <p:blipFill>
          <a:blip r:embed="rId3"/>
          <a:stretch>
            <a:fillRect/>
          </a:stretch>
        </p:blipFill>
        <p:spPr>
          <a:xfrm>
            <a:off x="5524499" y="6349999"/>
            <a:ext cx="1142999" cy="311149"/>
          </a:xfrm>
          <a:prstGeom prst="rect">
            <a:avLst/>
          </a:prstGeom>
        </p:spPr>
      </p:pic>
      <p:pic>
        <p:nvPicPr>
          <p:cNvPr id="4" name="Picture 3" descr="image.jpg"/>
          <p:cNvPicPr>
            <a:picLocks noChangeAspect="1"/>
          </p:cNvPicPr>
          <p:nvPr/>
        </p:nvPicPr>
        <p:blipFill>
          <a:blip r:embed="rId4"/>
          <a:stretch>
            <a:fillRect/>
          </a:stretch>
        </p:blipFill>
        <p:spPr>
          <a:xfrm>
            <a:off x="730249" y="361950"/>
            <a:ext cx="10731499" cy="755650"/>
          </a:xfrm>
          <a:prstGeom prst="rect">
            <a:avLst/>
          </a:prstGeom>
        </p:spPr>
      </p:pic>
      <p:pic>
        <p:nvPicPr>
          <p:cNvPr id="5" name="Picture 4" descr="image.png"/>
          <p:cNvPicPr>
            <a:picLocks noChangeAspect="1"/>
          </p:cNvPicPr>
          <p:nvPr/>
        </p:nvPicPr>
        <p:blipFill>
          <a:blip r:embed="rId5"/>
          <a:stretch>
            <a:fillRect/>
          </a:stretch>
        </p:blipFill>
        <p:spPr>
          <a:xfrm>
            <a:off x="609599" y="1663700"/>
            <a:ext cx="10972799" cy="2032000"/>
          </a:xfrm>
          <a:prstGeom prst="rect">
            <a:avLst/>
          </a:prstGeom>
        </p:spPr>
      </p:pic>
      <p:sp>
        <p:nvSpPr>
          <p:cNvPr id="6" name="TextBox 5"/>
          <p:cNvSpPr txBox="1"/>
          <p:nvPr/>
        </p:nvSpPr>
        <p:spPr>
          <a:xfrm>
            <a:off x="609599" y="3759199"/>
            <a:ext cx="10972799" cy="254000"/>
          </a:xfrm>
          <a:prstGeom prst="rect">
            <a:avLst/>
          </a:prstGeom>
          <a:noFill/>
        </p:spPr>
        <p:txBody>
          <a:bodyPr wrap="square" lIns="45720" rIns="45720">
            <a:spAutoFit/>
          </a:bodyPr>
          <a:lstStyle/>
          <a:p>
            <a:pPr algn="ctr">
              <a:defRPr sz="1200" b="0" i="0" u="none">
                <a:solidFill>
                  <a:srgbClr val="989898"/>
                </a:solidFill>
                <a:latin typeface="Arial"/>
              </a:defRPr>
            </a:pPr>
            <a:r>
              <a:t>Plan de mise en oeuvre</a:t>
            </a:r>
          </a:p>
        </p:txBody>
      </p:sp>
      <p:sp>
        <p:nvSpPr>
          <p:cNvPr id="7" name="TextBox 6"/>
          <p:cNvSpPr txBox="1"/>
          <p:nvPr/>
        </p:nvSpPr>
        <p:spPr>
          <a:xfrm>
            <a:off x="654049" y="387350"/>
            <a:ext cx="11156949" cy="685800"/>
          </a:xfrm>
          <a:prstGeom prst="rect">
            <a:avLst/>
          </a:prstGeom>
          <a:noFill/>
        </p:spPr>
        <p:txBody>
          <a:bodyPr wrap="square" lIns="45720" rIns="45720">
            <a:spAutoFit/>
          </a:bodyPr>
          <a:lstStyle/>
          <a:p>
            <a:pPr algn="l">
              <a:defRPr sz="4500" b="1" i="0" u="none">
                <a:solidFill>
                  <a:srgbClr val="010B49"/>
                </a:solidFill>
                <a:latin typeface="Arial"/>
              </a:defRPr>
            </a:pPr>
            <a:r>
              <a:t>Plan de mise en œuvre (1/2)</a:t>
            </a:r>
          </a:p>
        </p:txBody>
      </p:sp>
      <p:sp>
        <p:nvSpPr>
          <p:cNvPr id="8" name="TextBox 7"/>
          <p:cNvSpPr txBox="1"/>
          <p:nvPr/>
        </p:nvSpPr>
        <p:spPr>
          <a:xfrm>
            <a:off x="11353799" y="6254750"/>
            <a:ext cx="660399" cy="527050"/>
          </a:xfrm>
          <a:prstGeom prst="rect">
            <a:avLst/>
          </a:prstGeom>
          <a:noFill/>
        </p:spPr>
        <p:txBody>
          <a:bodyPr wrap="square" lIns="45720" rIns="45720">
            <a:spAutoFit/>
          </a:bodyPr>
          <a:lstStyle/>
          <a:p>
            <a:pPr algn="r">
              <a:lnSpc>
                <a:spcPct val="120000"/>
              </a:lnSpc>
              <a:defRPr sz="3750" b="0" i="0" u="none">
                <a:solidFill>
                  <a:srgbClr val="6B7280"/>
                </a:solidFill>
                <a:latin typeface="Carlito"/>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999" cy="6858000"/>
          </a:xfrm>
          <a:prstGeom prst="rect">
            <a:avLst/>
          </a:prstGeom>
        </p:spPr>
      </p:pic>
      <p:pic>
        <p:nvPicPr>
          <p:cNvPr id="3" name="Picture 2" descr="image.png"/>
          <p:cNvPicPr>
            <a:picLocks noChangeAspect="1"/>
          </p:cNvPicPr>
          <p:nvPr/>
        </p:nvPicPr>
        <p:blipFill>
          <a:blip r:embed="rId3"/>
          <a:stretch>
            <a:fillRect/>
          </a:stretch>
        </p:blipFill>
        <p:spPr>
          <a:xfrm>
            <a:off x="5524499" y="6349999"/>
            <a:ext cx="1142999" cy="311149"/>
          </a:xfrm>
          <a:prstGeom prst="rect">
            <a:avLst/>
          </a:prstGeom>
        </p:spPr>
      </p:pic>
      <p:pic>
        <p:nvPicPr>
          <p:cNvPr id="4" name="Picture 3" descr="image.jpg"/>
          <p:cNvPicPr>
            <a:picLocks noChangeAspect="1"/>
          </p:cNvPicPr>
          <p:nvPr/>
        </p:nvPicPr>
        <p:blipFill>
          <a:blip r:embed="rId4"/>
          <a:stretch>
            <a:fillRect/>
          </a:stretch>
        </p:blipFill>
        <p:spPr>
          <a:xfrm>
            <a:off x="730249" y="361950"/>
            <a:ext cx="10731499" cy="755650"/>
          </a:xfrm>
          <a:prstGeom prst="rect">
            <a:avLst/>
          </a:prstGeom>
        </p:spPr>
      </p:pic>
      <p:graphicFrame>
        <p:nvGraphicFramePr>
          <p:cNvPr id="5" name="Table 4"/>
          <p:cNvGraphicFramePr>
            <a:graphicFrameLocks noGrp="1"/>
          </p:cNvGraphicFramePr>
          <p:nvPr/>
        </p:nvGraphicFramePr>
        <p:xfrm>
          <a:off x="609599" y="1663700"/>
          <a:ext cx="10972799" cy="2209800"/>
        </p:xfrm>
        <a:graphic>
          <a:graphicData uri="http://schemas.openxmlformats.org/drawingml/2006/table">
            <a:tbl>
              <a:tblPr firstRow="1" bandRow="1">
                <a:tableStyleId>{5C22544A-7EE6-4342-B048-85BDC9FD1C3A}</a:tableStyleId>
              </a:tblPr>
              <a:tblGrid>
                <a:gridCol w="3657599"/>
                <a:gridCol w="3657599"/>
                <a:gridCol w="3657601"/>
              </a:tblGrid>
              <a:tr h="315685">
                <a:tc>
                  <a:txBody>
                    <a:bodyPr/>
                    <a:lstStyle/>
                    <a:p>
                      <a:pPr algn="l">
                        <a:defRPr sz="1650" b="1">
                          <a:solidFill>
                            <a:srgbClr val="FFFFFF"/>
                          </a:solidFill>
                          <a:latin typeface="Arial"/>
                        </a:defRPr>
                      </a:pPr>
                      <a:r>
                        <a:t>Phase</a:t>
                      </a:r>
                    </a:p>
                  </a:txBody>
                  <a:tcPr anchor="ctr">
                    <a:solidFill>
                      <a:srgbClr val="00DDDC"/>
                    </a:solidFill>
                  </a:tcPr>
                </a:tc>
                <a:tc>
                  <a:txBody>
                    <a:bodyPr/>
                    <a:lstStyle/>
                    <a:p>
                      <a:pPr algn="l">
                        <a:defRPr sz="1650" b="1">
                          <a:solidFill>
                            <a:srgbClr val="FFFFFF"/>
                          </a:solidFill>
                          <a:latin typeface="Arial"/>
                        </a:defRPr>
                      </a:pPr>
                      <a:r>
                        <a:t>Durée (semaines)</a:t>
                      </a:r>
                    </a:p>
                  </a:txBody>
                  <a:tcPr anchor="ctr">
                    <a:solidFill>
                      <a:srgbClr val="00DDDC"/>
                    </a:solidFill>
                  </a:tcPr>
                </a:tc>
                <a:tc>
                  <a:txBody>
                    <a:bodyPr/>
                    <a:lstStyle/>
                    <a:p>
                      <a:pPr algn="l">
                        <a:defRPr sz="1650" b="1">
                          <a:solidFill>
                            <a:srgbClr val="FFFFFF"/>
                          </a:solidFill>
                          <a:latin typeface="Arial"/>
                        </a:defRPr>
                      </a:pPr>
                      <a:r>
                        <a:t>Équipe</a:t>
                      </a:r>
                    </a:p>
                  </a:txBody>
                  <a:tcPr anchor="ctr">
                    <a:solidFill>
                      <a:srgbClr val="00DDDC"/>
                    </a:solidFill>
                  </a:tcPr>
                </a:tc>
              </a:tr>
              <a:tr h="315685">
                <a:tc>
                  <a:txBody>
                    <a:bodyPr/>
                    <a:lstStyle/>
                    <a:p>
                      <a:pPr algn="l">
                        <a:defRPr sz="1650">
                          <a:solidFill>
                            <a:srgbClr val="545454"/>
                          </a:solidFill>
                          <a:latin typeface="Arial"/>
                        </a:defRPr>
                      </a:pPr>
                      <a:r>
                        <a:t>Initiation</a:t>
                      </a:r>
                    </a:p>
                  </a:txBody>
                  <a:tcPr anchor="ctr">
                    <a:solidFill>
                      <a:srgbClr val="1E293B"/>
                    </a:solidFill>
                  </a:tcPr>
                </a:tc>
                <a:tc>
                  <a:txBody>
                    <a:bodyPr/>
                    <a:lstStyle/>
                    <a:p>
                      <a:pPr algn="l">
                        <a:defRPr sz="1650">
                          <a:solidFill>
                            <a:srgbClr val="545454"/>
                          </a:solidFill>
                          <a:latin typeface="Arial"/>
                        </a:defRPr>
                      </a:pPr>
                      <a:r>
                        <a:t>2</a:t>
                      </a:r>
                    </a:p>
                  </a:txBody>
                  <a:tcPr anchor="ctr">
                    <a:solidFill>
                      <a:srgbClr val="1E293B"/>
                    </a:solidFill>
                  </a:tcPr>
                </a:tc>
                <a:tc>
                  <a:txBody>
                    <a:bodyPr/>
                    <a:lstStyle/>
                    <a:p>
                      <a:pPr algn="l">
                        <a:defRPr sz="1650">
                          <a:solidFill>
                            <a:srgbClr val="545454"/>
                          </a:solidFill>
                          <a:latin typeface="Arial"/>
                        </a:defRPr>
                      </a:pPr>
                      <a:r>
                        <a:t>Chef de projet (1)</a:t>
                      </a:r>
                    </a:p>
                  </a:txBody>
                  <a:tcPr anchor="ctr">
                    <a:solidFill>
                      <a:srgbClr val="1E293B"/>
                    </a:solidFill>
                  </a:tcPr>
                </a:tc>
              </a:tr>
              <a:tr h="315685">
                <a:tc>
                  <a:txBody>
                    <a:bodyPr/>
                    <a:lstStyle/>
                    <a:p>
                      <a:pPr algn="l">
                        <a:defRPr sz="1650">
                          <a:solidFill>
                            <a:srgbClr val="545454"/>
                          </a:solidFill>
                          <a:latin typeface="Arial"/>
                        </a:defRPr>
                      </a:pPr>
                      <a:r>
                        <a:t>Architecture Design</a:t>
                      </a:r>
                    </a:p>
                  </a:txBody>
                  <a:tcPr anchor="ctr">
                    <a:solidFill>
                      <a:srgbClr val="0F172A"/>
                    </a:solidFill>
                  </a:tcPr>
                </a:tc>
                <a:tc>
                  <a:txBody>
                    <a:bodyPr/>
                    <a:lstStyle/>
                    <a:p>
                      <a:pPr algn="l">
                        <a:defRPr sz="1650">
                          <a:solidFill>
                            <a:srgbClr val="545454"/>
                          </a:solidFill>
                          <a:latin typeface="Arial"/>
                        </a:defRPr>
                      </a:pPr>
                      <a:r>
                        <a:t>2</a:t>
                      </a:r>
                    </a:p>
                  </a:txBody>
                  <a:tcPr anchor="ctr">
                    <a:solidFill>
                      <a:srgbClr val="0F172A"/>
                    </a:solidFill>
                  </a:tcPr>
                </a:tc>
                <a:tc>
                  <a:txBody>
                    <a:bodyPr/>
                    <a:lstStyle/>
                    <a:p>
                      <a:pPr algn="l">
                        <a:defRPr sz="1650">
                          <a:solidFill>
                            <a:srgbClr val="545454"/>
                          </a:solidFill>
                          <a:latin typeface="Arial"/>
                        </a:defRPr>
                      </a:pPr>
                      <a:r>
                        <a:t>DevOps (1)</a:t>
                      </a:r>
                    </a:p>
                  </a:txBody>
                  <a:tcPr anchor="ctr">
                    <a:solidFill>
                      <a:srgbClr val="0F172A"/>
                    </a:solidFill>
                  </a:tcPr>
                </a:tc>
              </a:tr>
              <a:tr h="315685">
                <a:tc>
                  <a:txBody>
                    <a:bodyPr/>
                    <a:lstStyle/>
                    <a:p>
                      <a:pPr algn="l">
                        <a:defRPr sz="1650">
                          <a:solidFill>
                            <a:srgbClr val="545454"/>
                          </a:solidFill>
                          <a:latin typeface="Arial"/>
                        </a:defRPr>
                      </a:pPr>
                      <a:r>
                        <a:t>Data Pipeline Development</a:t>
                      </a:r>
                    </a:p>
                  </a:txBody>
                  <a:tcPr anchor="ctr">
                    <a:solidFill>
                      <a:srgbClr val="1E293B"/>
                    </a:solidFill>
                  </a:tcPr>
                </a:tc>
                <a:tc>
                  <a:txBody>
                    <a:bodyPr/>
                    <a:lstStyle/>
                    <a:p>
                      <a:pPr algn="l">
                        <a:defRPr sz="1650">
                          <a:solidFill>
                            <a:srgbClr val="545454"/>
                          </a:solidFill>
                          <a:latin typeface="Arial"/>
                        </a:defRPr>
                      </a:pPr>
                      <a:r>
                        <a:t>3</a:t>
                      </a:r>
                    </a:p>
                  </a:txBody>
                  <a:tcPr anchor="ctr">
                    <a:solidFill>
                      <a:srgbClr val="1E293B"/>
                    </a:solidFill>
                  </a:tcPr>
                </a:tc>
                <a:tc>
                  <a:txBody>
                    <a:bodyPr/>
                    <a:lstStyle/>
                    <a:p>
                      <a:pPr algn="l">
                        <a:defRPr sz="1650">
                          <a:solidFill>
                            <a:srgbClr val="545454"/>
                          </a:solidFill>
                          <a:latin typeface="Arial"/>
                        </a:defRPr>
                      </a:pPr>
                      <a:r>
                        <a:t>DevOps (1)</a:t>
                      </a:r>
                    </a:p>
                  </a:txBody>
                  <a:tcPr anchor="ctr">
                    <a:solidFill>
                      <a:srgbClr val="1E293B"/>
                    </a:solidFill>
                  </a:tcPr>
                </a:tc>
              </a:tr>
              <a:tr h="315685">
                <a:tc>
                  <a:txBody>
                    <a:bodyPr/>
                    <a:lstStyle/>
                    <a:p>
                      <a:pPr algn="l">
                        <a:defRPr sz="1650">
                          <a:solidFill>
                            <a:srgbClr val="545454"/>
                          </a:solidFill>
                          <a:latin typeface="Arial"/>
                        </a:defRPr>
                      </a:pPr>
                      <a:r>
                        <a:t>Power BI Dashboard Build</a:t>
                      </a:r>
                    </a:p>
                  </a:txBody>
                  <a:tcPr anchor="ctr">
                    <a:solidFill>
                      <a:srgbClr val="0F172A"/>
                    </a:solidFill>
                  </a:tcPr>
                </a:tc>
                <a:tc>
                  <a:txBody>
                    <a:bodyPr/>
                    <a:lstStyle/>
                    <a:p>
                      <a:pPr algn="l">
                        <a:defRPr sz="1650">
                          <a:solidFill>
                            <a:srgbClr val="545454"/>
                          </a:solidFill>
                          <a:latin typeface="Arial"/>
                        </a:defRPr>
                      </a:pPr>
                      <a:r>
                        <a:t>3</a:t>
                      </a:r>
                    </a:p>
                  </a:txBody>
                  <a:tcPr anchor="ctr">
                    <a:solidFill>
                      <a:srgbClr val="0F172A"/>
                    </a:solidFill>
                  </a:tcPr>
                </a:tc>
                <a:tc>
                  <a:txBody>
                    <a:bodyPr/>
                    <a:lstStyle/>
                    <a:p>
                      <a:pPr algn="l">
                        <a:defRPr sz="1650">
                          <a:solidFill>
                            <a:srgbClr val="545454"/>
                          </a:solidFill>
                          <a:latin typeface="Arial"/>
                        </a:defRPr>
                      </a:pPr>
                      <a:r>
                        <a:t>Chef de projet (1)</a:t>
                      </a:r>
                    </a:p>
                  </a:txBody>
                  <a:tcPr anchor="ctr">
                    <a:solidFill>
                      <a:srgbClr val="0F172A"/>
                    </a:solidFill>
                  </a:tcPr>
                </a:tc>
              </a:tr>
              <a:tr h="315685">
                <a:tc>
                  <a:txBody>
                    <a:bodyPr/>
                    <a:lstStyle/>
                    <a:p>
                      <a:pPr algn="l">
                        <a:defRPr sz="1650">
                          <a:solidFill>
                            <a:srgbClr val="545454"/>
                          </a:solidFill>
                          <a:latin typeface="Arial"/>
                        </a:defRPr>
                      </a:pPr>
                      <a:r>
                        <a:t>Testing &amp; Deployment</a:t>
                      </a:r>
                    </a:p>
                  </a:txBody>
                  <a:tcPr anchor="ctr">
                    <a:solidFill>
                      <a:srgbClr val="1E293B"/>
                    </a:solidFill>
                  </a:tcPr>
                </a:tc>
                <a:tc>
                  <a:txBody>
                    <a:bodyPr/>
                    <a:lstStyle/>
                    <a:p>
                      <a:pPr algn="l">
                        <a:defRPr sz="1650">
                          <a:solidFill>
                            <a:srgbClr val="545454"/>
                          </a:solidFill>
                          <a:latin typeface="Arial"/>
                        </a:defRPr>
                      </a:pPr>
                      <a:r>
                        <a:t>2</a:t>
                      </a:r>
                    </a:p>
                  </a:txBody>
                  <a:tcPr anchor="ctr">
                    <a:solidFill>
                      <a:srgbClr val="1E293B"/>
                    </a:solidFill>
                  </a:tcPr>
                </a:tc>
                <a:tc>
                  <a:txBody>
                    <a:bodyPr/>
                    <a:lstStyle/>
                    <a:p>
                      <a:pPr algn="l">
                        <a:defRPr sz="1650">
                          <a:solidFill>
                            <a:srgbClr val="545454"/>
                          </a:solidFill>
                          <a:latin typeface="Arial"/>
                        </a:defRPr>
                      </a:pPr>
                      <a:r>
                        <a:t>DevOps (1), Chef de projet (1)</a:t>
                      </a:r>
                    </a:p>
                  </a:txBody>
                  <a:tcPr anchor="ctr">
                    <a:solidFill>
                      <a:srgbClr val="1E293B"/>
                    </a:solidFill>
                  </a:tcPr>
                </a:tc>
              </a:tr>
              <a:tr h="315690">
                <a:tc>
                  <a:txBody>
                    <a:bodyPr/>
                    <a:lstStyle/>
                    <a:p>
                      <a:pPr algn="l">
                        <a:defRPr sz="1650">
                          <a:solidFill>
                            <a:srgbClr val="545454"/>
                          </a:solidFill>
                          <a:latin typeface="Arial"/>
                        </a:defRPr>
                      </a:pPr>
                      <a:r>
                        <a:t>Durée totale</a:t>
                      </a:r>
                    </a:p>
                  </a:txBody>
                  <a:tcPr anchor="ctr">
                    <a:solidFill>
                      <a:srgbClr val="0F172A"/>
                    </a:solidFill>
                  </a:tcPr>
                </a:tc>
                <a:tc>
                  <a:txBody>
                    <a:bodyPr/>
                    <a:lstStyle/>
                    <a:p>
                      <a:pPr algn="l">
                        <a:defRPr sz="1650">
                          <a:solidFill>
                            <a:srgbClr val="545454"/>
                          </a:solidFill>
                          <a:latin typeface="Arial"/>
                        </a:defRPr>
                      </a:pPr>
                      <a:r>
                        <a:t>12</a:t>
                      </a:r>
                    </a:p>
                  </a:txBody>
                  <a:tcPr anchor="ctr">
                    <a:solidFill>
                      <a:srgbClr val="0F172A"/>
                    </a:solidFill>
                  </a:tcPr>
                </a:tc>
                <a:tc>
                  <a:txBody>
                    <a:bodyPr/>
                    <a:lstStyle/>
                    <a:p>
                      <a:pPr algn="l">
                        <a:defRPr sz="1650">
                          <a:solidFill>
                            <a:srgbClr val="545454"/>
                          </a:solidFill>
                          <a:latin typeface="Arial"/>
                        </a:defRPr>
                      </a:pPr>
                    </a:p>
                  </a:txBody>
                  <a:tcPr anchor="ctr">
                    <a:solidFill>
                      <a:srgbClr val="0F172A"/>
                    </a:solidFill>
                  </a:tcPr>
                </a:tc>
              </a:tr>
            </a:tbl>
          </a:graphicData>
        </a:graphic>
      </p:graphicFrame>
      <p:sp>
        <p:nvSpPr>
          <p:cNvPr id="6" name="TextBox 5"/>
          <p:cNvSpPr txBox="1"/>
          <p:nvPr/>
        </p:nvSpPr>
        <p:spPr>
          <a:xfrm>
            <a:off x="654049" y="387350"/>
            <a:ext cx="11156949" cy="685800"/>
          </a:xfrm>
          <a:prstGeom prst="rect">
            <a:avLst/>
          </a:prstGeom>
          <a:noFill/>
        </p:spPr>
        <p:txBody>
          <a:bodyPr wrap="square" lIns="45720" rIns="45720">
            <a:spAutoFit/>
          </a:bodyPr>
          <a:lstStyle/>
          <a:p>
            <a:pPr algn="l">
              <a:defRPr sz="4500" b="1" i="0" u="none">
                <a:solidFill>
                  <a:srgbClr val="010B49"/>
                </a:solidFill>
                <a:latin typeface="Arial"/>
              </a:defRPr>
            </a:pPr>
            <a:r>
              <a:t>Plan de mise en œuvre (2/2)</a:t>
            </a:r>
          </a:p>
        </p:txBody>
      </p:sp>
      <p:sp>
        <p:nvSpPr>
          <p:cNvPr id="7" name="TextBox 6"/>
          <p:cNvSpPr txBox="1"/>
          <p:nvPr/>
        </p:nvSpPr>
        <p:spPr>
          <a:xfrm>
            <a:off x="11353799" y="6254750"/>
            <a:ext cx="660399" cy="527050"/>
          </a:xfrm>
          <a:prstGeom prst="rect">
            <a:avLst/>
          </a:prstGeom>
          <a:noFill/>
        </p:spPr>
        <p:txBody>
          <a:bodyPr wrap="square" lIns="45720" rIns="45720">
            <a:spAutoFit/>
          </a:bodyPr>
          <a:lstStyle/>
          <a:p>
            <a:pPr algn="r">
              <a:lnSpc>
                <a:spcPct val="120000"/>
              </a:lnSpc>
              <a:defRPr sz="3750" b="0" i="0" u="none">
                <a:solidFill>
                  <a:srgbClr val="6B7280"/>
                </a:solidFill>
                <a:latin typeface="Carlito"/>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999" cy="6858000"/>
          </a:xfrm>
          <a:prstGeom prst="rect">
            <a:avLst/>
          </a:prstGeom>
        </p:spPr>
      </p:pic>
      <p:pic>
        <p:nvPicPr>
          <p:cNvPr id="3" name="Picture 2" descr="image.png"/>
          <p:cNvPicPr>
            <a:picLocks noChangeAspect="1"/>
          </p:cNvPicPr>
          <p:nvPr/>
        </p:nvPicPr>
        <p:blipFill>
          <a:blip r:embed="rId3"/>
          <a:stretch>
            <a:fillRect/>
          </a:stretch>
        </p:blipFill>
        <p:spPr>
          <a:xfrm>
            <a:off x="5524499" y="6349999"/>
            <a:ext cx="1142999" cy="311149"/>
          </a:xfrm>
          <a:prstGeom prst="rect">
            <a:avLst/>
          </a:prstGeom>
        </p:spPr>
      </p:pic>
      <p:pic>
        <p:nvPicPr>
          <p:cNvPr id="4" name="Picture 3" descr="image.jpg"/>
          <p:cNvPicPr>
            <a:picLocks noChangeAspect="1"/>
          </p:cNvPicPr>
          <p:nvPr/>
        </p:nvPicPr>
        <p:blipFill>
          <a:blip r:embed="rId4"/>
          <a:stretch>
            <a:fillRect/>
          </a:stretch>
        </p:blipFill>
        <p:spPr>
          <a:xfrm>
            <a:off x="730249" y="361950"/>
            <a:ext cx="10731499" cy="755650"/>
          </a:xfrm>
          <a:prstGeom prst="rect">
            <a:avLst/>
          </a:prstGeom>
        </p:spPr>
      </p:pic>
      <p:graphicFrame>
        <p:nvGraphicFramePr>
          <p:cNvPr id="5" name="Table 4"/>
          <p:cNvGraphicFramePr>
            <a:graphicFrameLocks noGrp="1"/>
          </p:cNvGraphicFramePr>
          <p:nvPr/>
        </p:nvGraphicFramePr>
        <p:xfrm>
          <a:off x="609599" y="1663700"/>
          <a:ext cx="10972799" cy="1600200"/>
        </p:xfrm>
        <a:graphic>
          <a:graphicData uri="http://schemas.openxmlformats.org/drawingml/2006/table">
            <a:tbl>
              <a:tblPr firstRow="1" bandRow="1">
                <a:tableStyleId>{5C22544A-7EE6-4342-B048-85BDC9FD1C3A}</a:tableStyleId>
              </a:tblPr>
              <a:tblGrid>
                <a:gridCol w="3657599"/>
                <a:gridCol w="3657599"/>
                <a:gridCol w="3657601"/>
              </a:tblGrid>
              <a:tr h="320040">
                <a:tc>
                  <a:txBody>
                    <a:bodyPr/>
                    <a:lstStyle/>
                    <a:p>
                      <a:pPr algn="l">
                        <a:defRPr sz="1650" b="1">
                          <a:solidFill>
                            <a:srgbClr val="FFFFFF"/>
                          </a:solidFill>
                          <a:latin typeface="Arial"/>
                        </a:defRPr>
                      </a:pPr>
                      <a:r>
                        <a:t>Risque</a:t>
                      </a:r>
                    </a:p>
                  </a:txBody>
                  <a:tcPr anchor="ctr">
                    <a:solidFill>
                      <a:srgbClr val="00DDDC"/>
                    </a:solidFill>
                  </a:tcPr>
                </a:tc>
                <a:tc>
                  <a:txBody>
                    <a:bodyPr/>
                    <a:lstStyle/>
                    <a:p>
                      <a:pPr algn="l">
                        <a:defRPr sz="1650" b="1">
                          <a:solidFill>
                            <a:srgbClr val="FFFFFF"/>
                          </a:solidFill>
                          <a:latin typeface="Arial"/>
                        </a:defRPr>
                      </a:pPr>
                      <a:r>
                        <a:t>Impact</a:t>
                      </a:r>
                    </a:p>
                  </a:txBody>
                  <a:tcPr anchor="ctr">
                    <a:solidFill>
                      <a:srgbClr val="00DDDC"/>
                    </a:solidFill>
                  </a:tcPr>
                </a:tc>
                <a:tc>
                  <a:txBody>
                    <a:bodyPr/>
                    <a:lstStyle/>
                    <a:p>
                      <a:pPr algn="l">
                        <a:defRPr sz="1650" b="1">
                          <a:solidFill>
                            <a:srgbClr val="FFFFFF"/>
                          </a:solidFill>
                          <a:latin typeface="Arial"/>
                        </a:defRPr>
                      </a:pPr>
                      <a:r>
                        <a:t>Mitigation</a:t>
                      </a:r>
                    </a:p>
                  </a:txBody>
                  <a:tcPr anchor="ctr">
                    <a:solidFill>
                      <a:srgbClr val="00DDDC"/>
                    </a:solidFill>
                  </a:tcPr>
                </a:tc>
              </a:tr>
              <a:tr h="320040">
                <a:tc>
                  <a:txBody>
                    <a:bodyPr/>
                    <a:lstStyle/>
                    <a:p>
                      <a:pPr algn="l">
                        <a:defRPr sz="1650">
                          <a:solidFill>
                            <a:srgbClr val="545454"/>
                          </a:solidFill>
                          <a:latin typeface="Arial"/>
                        </a:defRPr>
                      </a:pPr>
                      <a:r>
                        <a:t>Insufficient health sector experience</a:t>
                      </a:r>
                    </a:p>
                  </a:txBody>
                  <a:tcPr anchor="ctr">
                    <a:solidFill>
                      <a:srgbClr val="1E293B"/>
                    </a:solidFill>
                  </a:tcPr>
                </a:tc>
                <a:tc>
                  <a:txBody>
                    <a:bodyPr/>
                    <a:lstStyle/>
                    <a:p>
                      <a:pPr algn="l">
                        <a:defRPr sz="1650">
                          <a:solidFill>
                            <a:srgbClr val="545454"/>
                          </a:solidFill>
                          <a:latin typeface="Arial"/>
                        </a:defRPr>
                      </a:pPr>
                      <a:r>
                        <a:t>Élevé</a:t>
                      </a:r>
                    </a:p>
                  </a:txBody>
                  <a:tcPr anchor="ctr">
                    <a:solidFill>
                      <a:srgbClr val="1E293B"/>
                    </a:solidFill>
                  </a:tcPr>
                </a:tc>
                <a:tc>
                  <a:txBody>
                    <a:bodyPr/>
                    <a:lstStyle/>
                    <a:p>
                      <a:pPr algn="l">
                        <a:defRPr sz="1650">
                          <a:solidFill>
                            <a:srgbClr val="545454"/>
                          </a:solidFill>
                          <a:latin typeface="Arial"/>
                        </a:defRPr>
                      </a:pPr>
                      <a:r>
                        <a:t>Leverage external consultant with sector expertise</a:t>
                      </a:r>
                    </a:p>
                  </a:txBody>
                  <a:tcPr anchor="ctr">
                    <a:solidFill>
                      <a:srgbClr val="1E293B"/>
                    </a:solidFill>
                  </a:tcPr>
                </a:tc>
              </a:tr>
              <a:tr h="320040">
                <a:tc>
                  <a:txBody>
                    <a:bodyPr/>
                    <a:lstStyle/>
                    <a:p>
                      <a:pPr algn="l">
                        <a:defRPr sz="1650">
                          <a:solidFill>
                            <a:srgbClr val="545454"/>
                          </a:solidFill>
                          <a:latin typeface="Arial"/>
                        </a:defRPr>
                      </a:pPr>
                      <a:r>
                        <a:t>Azure hosting configuration delays</a:t>
                      </a:r>
                    </a:p>
                  </a:txBody>
                  <a:tcPr anchor="ctr">
                    <a:solidFill>
                      <a:srgbClr val="0F172A"/>
                    </a:solidFill>
                  </a:tcPr>
                </a:tc>
                <a:tc>
                  <a:txBody>
                    <a:bodyPr/>
                    <a:lstStyle/>
                    <a:p>
                      <a:pPr algn="l">
                        <a:defRPr sz="1650">
                          <a:solidFill>
                            <a:srgbClr val="545454"/>
                          </a:solidFill>
                          <a:latin typeface="Arial"/>
                        </a:defRPr>
                      </a:pPr>
                      <a:r>
                        <a:t>Moyen</a:t>
                      </a:r>
                    </a:p>
                  </a:txBody>
                  <a:tcPr anchor="ctr">
                    <a:solidFill>
                      <a:srgbClr val="0F172A"/>
                    </a:solidFill>
                  </a:tcPr>
                </a:tc>
                <a:tc>
                  <a:txBody>
                    <a:bodyPr/>
                    <a:lstStyle/>
                    <a:p>
                      <a:pPr algn="l">
                        <a:defRPr sz="1650">
                          <a:solidFill>
                            <a:srgbClr val="545454"/>
                          </a:solidFill>
                          <a:latin typeface="Arial"/>
                        </a:defRPr>
                      </a:pPr>
                      <a:r>
                        <a:t>Engage DevOps early for environment setup</a:t>
                      </a:r>
                    </a:p>
                  </a:txBody>
                  <a:tcPr anchor="ctr">
                    <a:solidFill>
                      <a:srgbClr val="0F172A"/>
                    </a:solidFill>
                  </a:tcPr>
                </a:tc>
              </a:tr>
              <a:tr h="320040">
                <a:tc>
                  <a:txBody>
                    <a:bodyPr/>
                    <a:lstStyle/>
                    <a:p>
                      <a:pPr algn="l">
                        <a:defRPr sz="1650">
                          <a:solidFill>
                            <a:srgbClr val="545454"/>
                          </a:solidFill>
                          <a:latin typeface="Arial"/>
                        </a:defRPr>
                      </a:pPr>
                      <a:r>
                        <a:t>Power BI performance issues</a:t>
                      </a:r>
                    </a:p>
                  </a:txBody>
                  <a:tcPr anchor="ctr">
                    <a:solidFill>
                      <a:srgbClr val="1E293B"/>
                    </a:solidFill>
                  </a:tcPr>
                </a:tc>
                <a:tc>
                  <a:txBody>
                    <a:bodyPr/>
                    <a:lstStyle/>
                    <a:p>
                      <a:pPr algn="l">
                        <a:defRPr sz="1650">
                          <a:solidFill>
                            <a:srgbClr val="545454"/>
                          </a:solidFill>
                          <a:latin typeface="Arial"/>
                        </a:defRPr>
                      </a:pPr>
                      <a:r>
                        <a:t>Moyen</a:t>
                      </a:r>
                    </a:p>
                  </a:txBody>
                  <a:tcPr anchor="ctr">
                    <a:solidFill>
                      <a:srgbClr val="1E293B"/>
                    </a:solidFill>
                  </a:tcPr>
                </a:tc>
                <a:tc>
                  <a:txBody>
                    <a:bodyPr/>
                    <a:lstStyle/>
                    <a:p>
                      <a:pPr algn="l">
                        <a:defRPr sz="1650">
                          <a:solidFill>
                            <a:srgbClr val="545454"/>
                          </a:solidFill>
                          <a:latin typeface="Arial"/>
                        </a:defRPr>
                      </a:pPr>
                      <a:r>
                        <a:t>Optimize data models and use aggregations</a:t>
                      </a:r>
                    </a:p>
                  </a:txBody>
                  <a:tcPr anchor="ctr">
                    <a:solidFill>
                      <a:srgbClr val="1E293B"/>
                    </a:solidFill>
                  </a:tcPr>
                </a:tc>
              </a:tr>
              <a:tr h="320040">
                <a:tc>
                  <a:txBody>
                    <a:bodyPr/>
                    <a:lstStyle/>
                    <a:p>
                      <a:pPr algn="l">
                        <a:defRPr sz="1650">
                          <a:solidFill>
                            <a:srgbClr val="545454"/>
                          </a:solidFill>
                          <a:latin typeface="Arial"/>
                        </a:defRPr>
                      </a:pPr>
                      <a:r>
                        <a:t>Python pipeline failures</a:t>
                      </a:r>
                    </a:p>
                  </a:txBody>
                  <a:tcPr anchor="ctr">
                    <a:solidFill>
                      <a:srgbClr val="0F172A"/>
                    </a:solidFill>
                  </a:tcPr>
                </a:tc>
                <a:tc>
                  <a:txBody>
                    <a:bodyPr/>
                    <a:lstStyle/>
                    <a:p>
                      <a:pPr algn="l">
                        <a:defRPr sz="1650">
                          <a:solidFill>
                            <a:srgbClr val="545454"/>
                          </a:solidFill>
                          <a:latin typeface="Arial"/>
                        </a:defRPr>
                      </a:pPr>
                      <a:r>
                        <a:t>Élevé</a:t>
                      </a:r>
                    </a:p>
                  </a:txBody>
                  <a:tcPr anchor="ctr">
                    <a:solidFill>
                      <a:srgbClr val="0F172A"/>
                    </a:solidFill>
                  </a:tcPr>
                </a:tc>
                <a:tc>
                  <a:txBody>
                    <a:bodyPr/>
                    <a:lstStyle/>
                    <a:p>
                      <a:pPr algn="l">
                        <a:defRPr sz="1650">
                          <a:solidFill>
                            <a:srgbClr val="545454"/>
                          </a:solidFill>
                          <a:latin typeface="Arial"/>
                        </a:defRPr>
                      </a:pPr>
                      <a:r>
                        <a:t>Implement automated tests and monitoring</a:t>
                      </a:r>
                    </a:p>
                  </a:txBody>
                  <a:tcPr anchor="ctr">
                    <a:solidFill>
                      <a:srgbClr val="0F172A"/>
                    </a:solidFill>
                  </a:tcPr>
                </a:tc>
              </a:tr>
            </a:tbl>
          </a:graphicData>
        </a:graphic>
      </p:graphicFrame>
      <p:sp>
        <p:nvSpPr>
          <p:cNvPr id="6" name="TextBox 5"/>
          <p:cNvSpPr txBox="1"/>
          <p:nvPr/>
        </p:nvSpPr>
        <p:spPr>
          <a:xfrm>
            <a:off x="654049" y="387350"/>
            <a:ext cx="11156949" cy="685800"/>
          </a:xfrm>
          <a:prstGeom prst="rect">
            <a:avLst/>
          </a:prstGeom>
          <a:noFill/>
        </p:spPr>
        <p:txBody>
          <a:bodyPr wrap="square" lIns="45720" rIns="45720">
            <a:spAutoFit/>
          </a:bodyPr>
          <a:lstStyle/>
          <a:p>
            <a:pPr algn="l">
              <a:defRPr sz="4500" b="1" i="0" u="none">
                <a:solidFill>
                  <a:srgbClr val="010B49"/>
                </a:solidFill>
                <a:latin typeface="Arial"/>
              </a:defRPr>
            </a:pPr>
            <a:r>
              <a:t>Risques et mitigation</a:t>
            </a:r>
          </a:p>
        </p:txBody>
      </p:sp>
      <p:sp>
        <p:nvSpPr>
          <p:cNvPr id="7" name="TextBox 6"/>
          <p:cNvSpPr txBox="1"/>
          <p:nvPr/>
        </p:nvSpPr>
        <p:spPr>
          <a:xfrm>
            <a:off x="11353799" y="6254750"/>
            <a:ext cx="660399" cy="527050"/>
          </a:xfrm>
          <a:prstGeom prst="rect">
            <a:avLst/>
          </a:prstGeom>
          <a:noFill/>
        </p:spPr>
        <p:txBody>
          <a:bodyPr wrap="square" lIns="45720" rIns="45720">
            <a:spAutoFit/>
          </a:bodyPr>
          <a:lstStyle/>
          <a:p>
            <a:pPr algn="r">
              <a:lnSpc>
                <a:spcPct val="120000"/>
              </a:lnSpc>
              <a:defRPr sz="3750" b="0" i="0" u="none">
                <a:solidFill>
                  <a:srgbClr val="6B7280"/>
                </a:solidFill>
                <a:latin typeface="Carlito"/>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999" cy="6858000"/>
          </a:xfrm>
          <a:prstGeom prst="rect">
            <a:avLst/>
          </a:prstGeom>
        </p:spPr>
      </p:pic>
      <p:pic>
        <p:nvPicPr>
          <p:cNvPr id="3" name="Picture 2" descr="image.png"/>
          <p:cNvPicPr>
            <a:picLocks noChangeAspect="1"/>
          </p:cNvPicPr>
          <p:nvPr/>
        </p:nvPicPr>
        <p:blipFill>
          <a:blip r:embed="rId3"/>
          <a:stretch>
            <a:fillRect/>
          </a:stretch>
        </p:blipFill>
        <p:spPr>
          <a:xfrm>
            <a:off x="5524499" y="6349999"/>
            <a:ext cx="1142999" cy="311149"/>
          </a:xfrm>
          <a:prstGeom prst="rect">
            <a:avLst/>
          </a:prstGeom>
        </p:spPr>
      </p:pic>
      <p:pic>
        <p:nvPicPr>
          <p:cNvPr id="4" name="Picture 3" descr="image.jpg"/>
          <p:cNvPicPr>
            <a:picLocks noChangeAspect="1"/>
          </p:cNvPicPr>
          <p:nvPr/>
        </p:nvPicPr>
        <p:blipFill>
          <a:blip r:embed="rId4"/>
          <a:stretch>
            <a:fillRect/>
          </a:stretch>
        </p:blipFill>
        <p:spPr>
          <a:xfrm>
            <a:off x="730249" y="361950"/>
            <a:ext cx="10731499" cy="755650"/>
          </a:xfrm>
          <a:prstGeom prst="rect">
            <a:avLst/>
          </a:prstGeom>
        </p:spPr>
      </p:pic>
      <p:sp>
        <p:nvSpPr>
          <p:cNvPr id="5" name="Rounded Rectangle 4"/>
          <p:cNvSpPr/>
          <p:nvPr/>
        </p:nvSpPr>
        <p:spPr>
          <a:xfrm>
            <a:off x="609599" y="4032250"/>
            <a:ext cx="10972799" cy="508000"/>
          </a:xfrm>
          <a:prstGeom prst="roundRect">
            <a:avLst>
              <a:gd name="adj" fmla="val 10000"/>
            </a:avLst>
          </a:prstGeom>
          <a:solidFill>
            <a:srgbClr val="6366F1"/>
          </a:solidFill>
          <a:ln w="25400">
            <a:solidFill>
              <a:srgbClr val="00DD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609599" y="1663700"/>
          <a:ext cx="10972799" cy="2209800"/>
        </p:xfrm>
        <a:graphic>
          <a:graphicData uri="http://schemas.openxmlformats.org/drawingml/2006/table">
            <a:tbl>
              <a:tblPr firstRow="1" bandRow="1">
                <a:tableStyleId>{5C22544A-7EE6-4342-B048-85BDC9FD1C3A}</a:tableStyleId>
              </a:tblPr>
              <a:tblGrid>
                <a:gridCol w="2743199"/>
                <a:gridCol w="2743199"/>
                <a:gridCol w="2743199"/>
                <a:gridCol w="2743202"/>
              </a:tblGrid>
              <a:tr h="315685">
                <a:tc>
                  <a:txBody>
                    <a:bodyPr/>
                    <a:lstStyle/>
                    <a:p>
                      <a:pPr algn="l">
                        <a:defRPr sz="1650" b="1">
                          <a:solidFill>
                            <a:srgbClr val="FFFFFF"/>
                          </a:solidFill>
                          <a:latin typeface="Arial"/>
                        </a:defRPr>
                      </a:pPr>
                      <a:r>
                        <a:t>Poste</a:t>
                      </a:r>
                    </a:p>
                  </a:txBody>
                  <a:tcPr anchor="ctr">
                    <a:solidFill>
                      <a:srgbClr val="00DDDC"/>
                    </a:solidFill>
                  </a:tcPr>
                </a:tc>
                <a:tc>
                  <a:txBody>
                    <a:bodyPr/>
                    <a:lstStyle/>
                    <a:p>
                      <a:pPr algn="l">
                        <a:defRPr sz="1650" b="1">
                          <a:solidFill>
                            <a:srgbClr val="FFFFFF"/>
                          </a:solidFill>
                          <a:latin typeface="Arial"/>
                        </a:defRPr>
                      </a:pPr>
                      <a:r>
                        <a:t>Quantité</a:t>
                      </a:r>
                    </a:p>
                  </a:txBody>
                  <a:tcPr anchor="ctr">
                    <a:solidFill>
                      <a:srgbClr val="00DDDC"/>
                    </a:solidFill>
                  </a:tcPr>
                </a:tc>
                <a:tc>
                  <a:txBody>
                    <a:bodyPr/>
                    <a:lstStyle/>
                    <a:p>
                      <a:pPr algn="l">
                        <a:defRPr sz="1650" b="1">
                          <a:solidFill>
                            <a:srgbClr val="FFFFFF"/>
                          </a:solidFill>
                          <a:latin typeface="Arial"/>
                        </a:defRPr>
                      </a:pPr>
                      <a:r>
                        <a:t>Prix unitaire</a:t>
                      </a:r>
                    </a:p>
                  </a:txBody>
                  <a:tcPr anchor="ctr">
                    <a:solidFill>
                      <a:srgbClr val="00DDDC"/>
                    </a:solidFill>
                  </a:tcPr>
                </a:tc>
                <a:tc>
                  <a:txBody>
                    <a:bodyPr/>
                    <a:lstStyle/>
                    <a:p>
                      <a:pPr algn="l">
                        <a:defRPr sz="1650" b="1">
                          <a:solidFill>
                            <a:srgbClr val="FFFFFF"/>
                          </a:solidFill>
                          <a:latin typeface="Arial"/>
                        </a:defRPr>
                      </a:pPr>
                      <a:r>
                        <a:t>Total</a:t>
                      </a:r>
                    </a:p>
                  </a:txBody>
                  <a:tcPr anchor="ctr">
                    <a:solidFill>
                      <a:srgbClr val="00DDDC"/>
                    </a:solidFill>
                  </a:tcPr>
                </a:tc>
              </a:tr>
              <a:tr h="315685">
                <a:tc>
                  <a:txBody>
                    <a:bodyPr/>
                    <a:lstStyle/>
                    <a:p>
                      <a:pPr algn="l">
                        <a:defRPr sz="1650">
                          <a:solidFill>
                            <a:srgbClr val="545454"/>
                          </a:solidFill>
                          <a:latin typeface="Arial"/>
                        </a:defRPr>
                      </a:pPr>
                      <a:r>
                        <a:t>Chef de projet</a:t>
                      </a:r>
                    </a:p>
                  </a:txBody>
                  <a:tcPr anchor="ctr">
                    <a:solidFill>
                      <a:srgbClr val="1E293B"/>
                    </a:solidFill>
                  </a:tcPr>
                </a:tc>
                <a:tc>
                  <a:txBody>
                    <a:bodyPr/>
                    <a:lstStyle/>
                    <a:p>
                      <a:pPr algn="l">
                        <a:defRPr sz="1650">
                          <a:solidFill>
                            <a:srgbClr val="545454"/>
                          </a:solidFill>
                          <a:latin typeface="Arial"/>
                        </a:defRPr>
                      </a:pPr>
                      <a:r>
                        <a:t>35 jours</a:t>
                      </a:r>
                    </a:p>
                  </a:txBody>
                  <a:tcPr anchor="ctr">
                    <a:solidFill>
                      <a:srgbClr val="1E293B"/>
                    </a:solidFill>
                  </a:tcPr>
                </a:tc>
                <a:tc>
                  <a:txBody>
                    <a:bodyPr/>
                    <a:lstStyle/>
                    <a:p>
                      <a:pPr algn="l">
                        <a:defRPr sz="1650">
                          <a:solidFill>
                            <a:srgbClr val="545454"/>
                          </a:solidFill>
                          <a:latin typeface="Arial"/>
                        </a:defRPr>
                      </a:pPr>
                      <a:r>
                        <a:t>300,00 EUR</a:t>
                      </a:r>
                    </a:p>
                  </a:txBody>
                  <a:tcPr anchor="ctr">
                    <a:solidFill>
                      <a:srgbClr val="1E293B"/>
                    </a:solidFill>
                  </a:tcPr>
                </a:tc>
                <a:tc>
                  <a:txBody>
                    <a:bodyPr/>
                    <a:lstStyle/>
                    <a:p>
                      <a:pPr algn="l">
                        <a:defRPr sz="1650">
                          <a:solidFill>
                            <a:srgbClr val="545454"/>
                          </a:solidFill>
                          <a:latin typeface="Arial"/>
                        </a:defRPr>
                      </a:pPr>
                      <a:r>
                        <a:t>10 500,00 EUR</a:t>
                      </a:r>
                    </a:p>
                  </a:txBody>
                  <a:tcPr anchor="ctr">
                    <a:solidFill>
                      <a:srgbClr val="1E293B"/>
                    </a:solidFill>
                  </a:tcPr>
                </a:tc>
              </a:tr>
              <a:tr h="315685">
                <a:tc>
                  <a:txBody>
                    <a:bodyPr/>
                    <a:lstStyle/>
                    <a:p>
                      <a:pPr algn="l">
                        <a:defRPr sz="1650">
                          <a:solidFill>
                            <a:srgbClr val="545454"/>
                          </a:solidFill>
                          <a:latin typeface="Arial"/>
                        </a:defRPr>
                      </a:pPr>
                      <a:r>
                        <a:t>DevOps</a:t>
                      </a:r>
                    </a:p>
                  </a:txBody>
                  <a:tcPr anchor="ctr">
                    <a:solidFill>
                      <a:srgbClr val="0F172A"/>
                    </a:solidFill>
                  </a:tcPr>
                </a:tc>
                <a:tc>
                  <a:txBody>
                    <a:bodyPr/>
                    <a:lstStyle/>
                    <a:p>
                      <a:pPr algn="l">
                        <a:defRPr sz="1650">
                          <a:solidFill>
                            <a:srgbClr val="545454"/>
                          </a:solidFill>
                          <a:latin typeface="Arial"/>
                        </a:defRPr>
                      </a:pPr>
                      <a:r>
                        <a:t>35 jours</a:t>
                      </a:r>
                    </a:p>
                  </a:txBody>
                  <a:tcPr anchor="ctr">
                    <a:solidFill>
                      <a:srgbClr val="0F172A"/>
                    </a:solidFill>
                  </a:tcPr>
                </a:tc>
                <a:tc>
                  <a:txBody>
                    <a:bodyPr/>
                    <a:lstStyle/>
                    <a:p>
                      <a:pPr algn="l">
                        <a:defRPr sz="1650">
                          <a:solidFill>
                            <a:srgbClr val="545454"/>
                          </a:solidFill>
                          <a:latin typeface="Arial"/>
                        </a:defRPr>
                      </a:pPr>
                      <a:r>
                        <a:t>280,00 EUR</a:t>
                      </a:r>
                    </a:p>
                  </a:txBody>
                  <a:tcPr anchor="ctr">
                    <a:solidFill>
                      <a:srgbClr val="0F172A"/>
                    </a:solidFill>
                  </a:tcPr>
                </a:tc>
                <a:tc>
                  <a:txBody>
                    <a:bodyPr/>
                    <a:lstStyle/>
                    <a:p>
                      <a:pPr algn="l">
                        <a:defRPr sz="1650">
                          <a:solidFill>
                            <a:srgbClr val="545454"/>
                          </a:solidFill>
                          <a:latin typeface="Arial"/>
                        </a:defRPr>
                      </a:pPr>
                      <a:r>
                        <a:t>9 800,00 EUR</a:t>
                      </a:r>
                    </a:p>
                  </a:txBody>
                  <a:tcPr anchor="ctr">
                    <a:solidFill>
                      <a:srgbClr val="0F172A"/>
                    </a:solidFill>
                  </a:tcPr>
                </a:tc>
              </a:tr>
              <a:tr h="315685">
                <a:tc>
                  <a:txBody>
                    <a:bodyPr/>
                    <a:lstStyle/>
                    <a:p>
                      <a:pPr algn="l">
                        <a:defRPr sz="1650">
                          <a:solidFill>
                            <a:srgbClr val="545454"/>
                          </a:solidFill>
                          <a:latin typeface="Arial"/>
                        </a:defRPr>
                      </a:pPr>
                      <a:r>
                        <a:t>app server month</a:t>
                      </a:r>
                    </a:p>
                  </a:txBody>
                  <a:tcPr anchor="ctr">
                    <a:solidFill>
                      <a:srgbClr val="1E293B"/>
                    </a:solidFill>
                  </a:tcPr>
                </a:tc>
                <a:tc>
                  <a:txBody>
                    <a:bodyPr/>
                    <a:lstStyle/>
                    <a:p>
                      <a:pPr algn="l">
                        <a:defRPr sz="1650">
                          <a:solidFill>
                            <a:srgbClr val="545454"/>
                          </a:solidFill>
                          <a:latin typeface="Arial"/>
                        </a:defRPr>
                      </a:pPr>
                      <a:r>
                        <a:t>1 × 12 mois</a:t>
                      </a:r>
                    </a:p>
                  </a:txBody>
                  <a:tcPr anchor="ctr">
                    <a:solidFill>
                      <a:srgbClr val="1E293B"/>
                    </a:solidFill>
                  </a:tcPr>
                </a:tc>
                <a:tc>
                  <a:txBody>
                    <a:bodyPr/>
                    <a:lstStyle/>
                    <a:p>
                      <a:pPr algn="l">
                        <a:defRPr sz="1650">
                          <a:solidFill>
                            <a:srgbClr val="545454"/>
                          </a:solidFill>
                          <a:latin typeface="Arial"/>
                        </a:defRPr>
                      </a:pPr>
                      <a:r>
                        <a:t>40,00 EUR</a:t>
                      </a:r>
                    </a:p>
                  </a:txBody>
                  <a:tcPr anchor="ctr">
                    <a:solidFill>
                      <a:srgbClr val="1E293B"/>
                    </a:solidFill>
                  </a:tcPr>
                </a:tc>
                <a:tc>
                  <a:txBody>
                    <a:bodyPr/>
                    <a:lstStyle/>
                    <a:p>
                      <a:pPr algn="l">
                        <a:defRPr sz="1650">
                          <a:solidFill>
                            <a:srgbClr val="545454"/>
                          </a:solidFill>
                          <a:latin typeface="Arial"/>
                        </a:defRPr>
                      </a:pPr>
                      <a:r>
                        <a:t>480,00 EUR</a:t>
                      </a:r>
                    </a:p>
                  </a:txBody>
                  <a:tcPr anchor="ctr">
                    <a:solidFill>
                      <a:srgbClr val="1E293B"/>
                    </a:solidFill>
                  </a:tcPr>
                </a:tc>
              </a:tr>
              <a:tr h="315685">
                <a:tc>
                  <a:txBody>
                    <a:bodyPr/>
                    <a:lstStyle/>
                    <a:p>
                      <a:pPr algn="l">
                        <a:defRPr sz="1650">
                          <a:solidFill>
                            <a:srgbClr val="545454"/>
                          </a:solidFill>
                          <a:latin typeface="Arial"/>
                        </a:defRPr>
                      </a:pPr>
                      <a:r>
                        <a:t>database month</a:t>
                      </a:r>
                    </a:p>
                  </a:txBody>
                  <a:tcPr anchor="ctr">
                    <a:solidFill>
                      <a:srgbClr val="0F172A"/>
                    </a:solidFill>
                  </a:tcPr>
                </a:tc>
                <a:tc>
                  <a:txBody>
                    <a:bodyPr/>
                    <a:lstStyle/>
                    <a:p>
                      <a:pPr algn="l">
                        <a:defRPr sz="1650">
                          <a:solidFill>
                            <a:srgbClr val="545454"/>
                          </a:solidFill>
                          <a:latin typeface="Arial"/>
                        </a:defRPr>
                      </a:pPr>
                      <a:r>
                        <a:t>1 × 12 mois</a:t>
                      </a:r>
                    </a:p>
                  </a:txBody>
                  <a:tcPr anchor="ctr">
                    <a:solidFill>
                      <a:srgbClr val="0F172A"/>
                    </a:solidFill>
                  </a:tcPr>
                </a:tc>
                <a:tc>
                  <a:txBody>
                    <a:bodyPr/>
                    <a:lstStyle/>
                    <a:p>
                      <a:pPr algn="l">
                        <a:defRPr sz="1650">
                          <a:solidFill>
                            <a:srgbClr val="545454"/>
                          </a:solidFill>
                          <a:latin typeface="Arial"/>
                        </a:defRPr>
                      </a:pPr>
                      <a:r>
                        <a:t>60,00 EUR</a:t>
                      </a:r>
                    </a:p>
                  </a:txBody>
                  <a:tcPr anchor="ctr">
                    <a:solidFill>
                      <a:srgbClr val="0F172A"/>
                    </a:solidFill>
                  </a:tcPr>
                </a:tc>
                <a:tc>
                  <a:txBody>
                    <a:bodyPr/>
                    <a:lstStyle/>
                    <a:p>
                      <a:pPr algn="l">
                        <a:defRPr sz="1650">
                          <a:solidFill>
                            <a:srgbClr val="545454"/>
                          </a:solidFill>
                          <a:latin typeface="Arial"/>
                        </a:defRPr>
                      </a:pPr>
                      <a:r>
                        <a:t>720,00 EUR</a:t>
                      </a:r>
                    </a:p>
                  </a:txBody>
                  <a:tcPr anchor="ctr">
                    <a:solidFill>
                      <a:srgbClr val="0F172A"/>
                    </a:solidFill>
                  </a:tcPr>
                </a:tc>
              </a:tr>
              <a:tr h="315685">
                <a:tc>
                  <a:txBody>
                    <a:bodyPr/>
                    <a:lstStyle/>
                    <a:p>
                      <a:pPr algn="l">
                        <a:defRPr sz="1650">
                          <a:solidFill>
                            <a:srgbClr val="545454"/>
                          </a:solidFill>
                          <a:latin typeface="Arial"/>
                        </a:defRPr>
                      </a:pPr>
                      <a:r>
                        <a:t>storage gb month</a:t>
                      </a:r>
                    </a:p>
                  </a:txBody>
                  <a:tcPr anchor="ctr">
                    <a:solidFill>
                      <a:srgbClr val="1E293B"/>
                    </a:solidFill>
                  </a:tcPr>
                </a:tc>
                <a:tc>
                  <a:txBody>
                    <a:bodyPr/>
                    <a:lstStyle/>
                    <a:p>
                      <a:pPr algn="l">
                        <a:defRPr sz="1650">
                          <a:solidFill>
                            <a:srgbClr val="545454"/>
                          </a:solidFill>
                          <a:latin typeface="Arial"/>
                        </a:defRPr>
                      </a:pPr>
                      <a:r>
                        <a:t>1 × 12 mois</a:t>
                      </a:r>
                    </a:p>
                  </a:txBody>
                  <a:tcPr anchor="ctr">
                    <a:solidFill>
                      <a:srgbClr val="1E293B"/>
                    </a:solidFill>
                  </a:tcPr>
                </a:tc>
                <a:tc>
                  <a:txBody>
                    <a:bodyPr/>
                    <a:lstStyle/>
                    <a:p>
                      <a:pPr algn="l">
                        <a:defRPr sz="1650">
                          <a:solidFill>
                            <a:srgbClr val="545454"/>
                          </a:solidFill>
                          <a:latin typeface="Arial"/>
                        </a:defRPr>
                      </a:pPr>
                      <a:r>
                        <a:t>0,02 EUR</a:t>
                      </a:r>
                    </a:p>
                  </a:txBody>
                  <a:tcPr anchor="ctr">
                    <a:solidFill>
                      <a:srgbClr val="1E293B"/>
                    </a:solidFill>
                  </a:tcPr>
                </a:tc>
                <a:tc>
                  <a:txBody>
                    <a:bodyPr/>
                    <a:lstStyle/>
                    <a:p>
                      <a:pPr algn="l">
                        <a:defRPr sz="1650">
                          <a:solidFill>
                            <a:srgbClr val="545454"/>
                          </a:solidFill>
                          <a:latin typeface="Arial"/>
                        </a:defRPr>
                      </a:pPr>
                      <a:r>
                        <a:t>0,24 EUR</a:t>
                      </a:r>
                    </a:p>
                  </a:txBody>
                  <a:tcPr anchor="ctr">
                    <a:solidFill>
                      <a:srgbClr val="1E293B"/>
                    </a:solidFill>
                  </a:tcPr>
                </a:tc>
              </a:tr>
              <a:tr h="315690">
                <a:tc>
                  <a:txBody>
                    <a:bodyPr/>
                    <a:lstStyle/>
                    <a:p>
                      <a:pPr algn="l">
                        <a:defRPr sz="1650">
                          <a:solidFill>
                            <a:srgbClr val="545454"/>
                          </a:solidFill>
                          <a:latin typeface="Arial"/>
                        </a:defRPr>
                      </a:pPr>
                      <a:r>
                        <a:t>Support et maintenance</a:t>
                      </a:r>
                    </a:p>
                  </a:txBody>
                  <a:tcPr anchor="ctr">
                    <a:solidFill>
                      <a:srgbClr val="0F172A"/>
                    </a:solidFill>
                  </a:tcPr>
                </a:tc>
                <a:tc>
                  <a:txBody>
                    <a:bodyPr/>
                    <a:lstStyle/>
                    <a:p>
                      <a:pPr algn="l">
                        <a:defRPr sz="1650">
                          <a:solidFill>
                            <a:srgbClr val="545454"/>
                          </a:solidFill>
                          <a:latin typeface="Arial"/>
                        </a:defRPr>
                      </a:pPr>
                      <a:r>
                        <a:t>15%</a:t>
                      </a:r>
                    </a:p>
                  </a:txBody>
                  <a:tcPr anchor="ctr">
                    <a:solidFill>
                      <a:srgbClr val="0F172A"/>
                    </a:solidFill>
                  </a:tcPr>
                </a:tc>
                <a:tc>
                  <a:txBody>
                    <a:bodyPr/>
                    <a:lstStyle/>
                    <a:p>
                      <a:pPr algn="l">
                        <a:defRPr sz="1650">
                          <a:solidFill>
                            <a:srgbClr val="545454"/>
                          </a:solidFill>
                          <a:latin typeface="Arial"/>
                        </a:defRPr>
                      </a:pPr>
                      <a:r>
                        <a:t>-</a:t>
                      </a:r>
                    </a:p>
                  </a:txBody>
                  <a:tcPr anchor="ctr">
                    <a:solidFill>
                      <a:srgbClr val="0F172A"/>
                    </a:solidFill>
                  </a:tcPr>
                </a:tc>
                <a:tc>
                  <a:txBody>
                    <a:bodyPr/>
                    <a:lstStyle/>
                    <a:p>
                      <a:pPr algn="l">
                        <a:defRPr sz="1650">
                          <a:solidFill>
                            <a:srgbClr val="545454"/>
                          </a:solidFill>
                          <a:latin typeface="Arial"/>
                        </a:defRPr>
                      </a:pPr>
                      <a:r>
                        <a:t>3 045,00 EUR</a:t>
                      </a:r>
                    </a:p>
                  </a:txBody>
                  <a:tcPr anchor="ctr">
                    <a:solidFill>
                      <a:srgbClr val="0F172A"/>
                    </a:solidFill>
                  </a:tcPr>
                </a:tc>
              </a:tr>
            </a:tbl>
          </a:graphicData>
        </a:graphic>
      </p:graphicFrame>
      <p:sp>
        <p:nvSpPr>
          <p:cNvPr id="7" name="TextBox 6"/>
          <p:cNvSpPr txBox="1"/>
          <p:nvPr/>
        </p:nvSpPr>
        <p:spPr>
          <a:xfrm>
            <a:off x="711199" y="4121149"/>
            <a:ext cx="10769599" cy="330200"/>
          </a:xfrm>
          <a:prstGeom prst="rect">
            <a:avLst/>
          </a:prstGeom>
          <a:noFill/>
        </p:spPr>
        <p:txBody>
          <a:bodyPr wrap="square" lIns="45720" rIns="45720">
            <a:spAutoFit/>
          </a:bodyPr>
          <a:lstStyle/>
          <a:p>
            <a:pPr algn="l">
              <a:defRPr sz="1350" b="0" i="0" u="none">
                <a:solidFill>
                  <a:srgbClr val="545454"/>
                </a:solidFill>
                <a:latin typeface="Arial"/>
              </a:defRPr>
            </a:pPr>
            <a:r>
              <a:t>ℹ️  Montant one-time : 28 420,00 EUR. Coûts récurrents : 1 200,24 EUR/an.</a:t>
            </a:r>
          </a:p>
        </p:txBody>
      </p:sp>
      <p:sp>
        <p:nvSpPr>
          <p:cNvPr id="8" name="TextBox 7"/>
          <p:cNvSpPr txBox="1"/>
          <p:nvPr/>
        </p:nvSpPr>
        <p:spPr>
          <a:xfrm>
            <a:off x="654049" y="387350"/>
            <a:ext cx="11156949" cy="685800"/>
          </a:xfrm>
          <a:prstGeom prst="rect">
            <a:avLst/>
          </a:prstGeom>
          <a:noFill/>
        </p:spPr>
        <p:txBody>
          <a:bodyPr wrap="square" lIns="45720" rIns="45720">
            <a:spAutoFit/>
          </a:bodyPr>
          <a:lstStyle/>
          <a:p>
            <a:pPr algn="l">
              <a:defRPr sz="4500" b="1" i="0" u="none">
                <a:solidFill>
                  <a:srgbClr val="010B49"/>
                </a:solidFill>
                <a:latin typeface="Arial"/>
              </a:defRPr>
            </a:pPr>
            <a:r>
              <a:t>Offre financière</a:t>
            </a:r>
          </a:p>
        </p:txBody>
      </p:sp>
      <p:sp>
        <p:nvSpPr>
          <p:cNvPr id="9" name="TextBox 8"/>
          <p:cNvSpPr txBox="1"/>
          <p:nvPr/>
        </p:nvSpPr>
        <p:spPr>
          <a:xfrm>
            <a:off x="11353799" y="6254750"/>
            <a:ext cx="660399" cy="527050"/>
          </a:xfrm>
          <a:prstGeom prst="rect">
            <a:avLst/>
          </a:prstGeom>
          <a:noFill/>
        </p:spPr>
        <p:txBody>
          <a:bodyPr wrap="square" lIns="45720" rIns="45720">
            <a:spAutoFit/>
          </a:bodyPr>
          <a:lstStyle/>
          <a:p>
            <a:pPr algn="r">
              <a:lnSpc>
                <a:spcPct val="120000"/>
              </a:lnSpc>
              <a:defRPr sz="3750" b="0" i="0" u="none">
                <a:solidFill>
                  <a:srgbClr val="6B7280"/>
                </a:solidFill>
                <a:latin typeface="Carlito"/>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999" cy="6858000"/>
          </a:xfrm>
          <a:prstGeom prst="rect">
            <a:avLst/>
          </a:prstGeom>
        </p:spPr>
      </p:pic>
      <p:pic>
        <p:nvPicPr>
          <p:cNvPr id="3" name="Picture 2" descr="image.png"/>
          <p:cNvPicPr>
            <a:picLocks noChangeAspect="1"/>
          </p:cNvPicPr>
          <p:nvPr/>
        </p:nvPicPr>
        <p:blipFill>
          <a:blip r:embed="rId3"/>
          <a:stretch>
            <a:fillRect/>
          </a:stretch>
        </p:blipFill>
        <p:spPr>
          <a:xfrm>
            <a:off x="5524499" y="6349999"/>
            <a:ext cx="1142999" cy="311149"/>
          </a:xfrm>
          <a:prstGeom prst="rect">
            <a:avLst/>
          </a:prstGeom>
        </p:spPr>
      </p:pic>
      <p:pic>
        <p:nvPicPr>
          <p:cNvPr id="4" name="Picture 3" descr="image.jpg"/>
          <p:cNvPicPr>
            <a:picLocks noChangeAspect="1"/>
          </p:cNvPicPr>
          <p:nvPr/>
        </p:nvPicPr>
        <p:blipFill>
          <a:blip r:embed="rId4"/>
          <a:stretch>
            <a:fillRect/>
          </a:stretch>
        </p:blipFill>
        <p:spPr>
          <a:xfrm>
            <a:off x="730249" y="361950"/>
            <a:ext cx="10731499" cy="755650"/>
          </a:xfrm>
          <a:prstGeom prst="rect">
            <a:avLst/>
          </a:prstGeom>
        </p:spPr>
      </p:pic>
      <p:sp>
        <p:nvSpPr>
          <p:cNvPr id="5" name="TextBox 4"/>
          <p:cNvSpPr txBox="1"/>
          <p:nvPr/>
        </p:nvSpPr>
        <p:spPr>
          <a:xfrm>
            <a:off x="609599" y="1663700"/>
            <a:ext cx="10972799" cy="1244599"/>
          </a:xfrm>
          <a:prstGeom prst="rect">
            <a:avLst/>
          </a:prstGeom>
          <a:noFill/>
        </p:spPr>
        <p:txBody>
          <a:bodyPr wrap="square" lIns="45720" rIns="45720">
            <a:spAutoFit/>
          </a:bodyPr>
          <a:lstStyle/>
          <a:p>
            <a:pPr>
              <a:lnSpc>
                <a:spcPct val="150000"/>
              </a:lnSpc>
              <a:defRPr sz="2100">
                <a:solidFill>
                  <a:srgbClr val="545454"/>
                </a:solidFill>
                <a:latin typeface="Arial"/>
              </a:defRPr>
            </a:pPr>
            <a:r>
              <a:t>• Une équipe de support dédiée assure la surveillance continue de la plateforme Azure.</a:t>
            </a:r>
          </a:p>
          <a:p>
            <a:pPr>
              <a:lnSpc>
                <a:spcPct val="150000"/>
              </a:lnSpc>
              <a:defRPr sz="2100">
                <a:solidFill>
                  <a:srgbClr val="545454"/>
                </a:solidFill>
                <a:latin typeface="Arial"/>
              </a:defRPr>
            </a:pPr>
            <a:r>
              <a:t>• Nous appliquons des pratiques de qualité code et des tests automatisés pour garantir la fiabilité.</a:t>
            </a:r>
          </a:p>
          <a:p>
            <a:pPr>
              <a:lnSpc>
                <a:spcPct val="150000"/>
              </a:lnSpc>
              <a:defRPr sz="2100">
                <a:solidFill>
                  <a:srgbClr val="545454"/>
                </a:solidFill>
                <a:latin typeface="Arial"/>
              </a:defRPr>
            </a:pPr>
            <a:r>
              <a:t>• Les utilisateurs bénéficient d’une formation initiale et de documentation complète.</a:t>
            </a:r>
          </a:p>
          <a:p>
            <a:pPr>
              <a:lnSpc>
                <a:spcPct val="150000"/>
              </a:lnSpc>
              <a:defRPr sz="2100">
                <a:solidFill>
                  <a:srgbClr val="545454"/>
                </a:solidFill>
                <a:latin typeface="Arial"/>
              </a:defRPr>
            </a:pPr>
            <a:r>
              <a:t>• Certifications : Azure Certified, Azure Data Engineer, AWS Certified, AWS Solutions Architect, Certified Scrum Master (CSM), Scrum Master (PSM/CSM), Databricks Certified, GCP Professional Data Engineer, Google Cloud Certified</a:t>
            </a:r>
          </a:p>
        </p:txBody>
      </p:sp>
      <p:sp>
        <p:nvSpPr>
          <p:cNvPr id="6" name="TextBox 5"/>
          <p:cNvSpPr txBox="1"/>
          <p:nvPr/>
        </p:nvSpPr>
        <p:spPr>
          <a:xfrm>
            <a:off x="654049" y="387350"/>
            <a:ext cx="11156949" cy="685800"/>
          </a:xfrm>
          <a:prstGeom prst="rect">
            <a:avLst/>
          </a:prstGeom>
          <a:noFill/>
        </p:spPr>
        <p:txBody>
          <a:bodyPr wrap="square" lIns="45720" rIns="45720">
            <a:spAutoFit/>
          </a:bodyPr>
          <a:lstStyle/>
          <a:p>
            <a:pPr algn="l">
              <a:defRPr sz="4500" b="1" i="0" u="none">
                <a:solidFill>
                  <a:srgbClr val="010B49"/>
                </a:solidFill>
                <a:latin typeface="Arial"/>
              </a:defRPr>
            </a:pPr>
            <a:r>
              <a:t>Support et SLA</a:t>
            </a:r>
          </a:p>
        </p:txBody>
      </p:sp>
      <p:sp>
        <p:nvSpPr>
          <p:cNvPr id="7" name="TextBox 6"/>
          <p:cNvSpPr txBox="1"/>
          <p:nvPr/>
        </p:nvSpPr>
        <p:spPr>
          <a:xfrm>
            <a:off x="11353799" y="6254750"/>
            <a:ext cx="660399" cy="527050"/>
          </a:xfrm>
          <a:prstGeom prst="rect">
            <a:avLst/>
          </a:prstGeom>
          <a:noFill/>
        </p:spPr>
        <p:txBody>
          <a:bodyPr wrap="square" lIns="45720" rIns="45720">
            <a:spAutoFit/>
          </a:bodyPr>
          <a:lstStyle/>
          <a:p>
            <a:pPr algn="r">
              <a:lnSpc>
                <a:spcPct val="120000"/>
              </a:lnSpc>
              <a:defRPr sz="3750" b="0" i="0" u="none">
                <a:solidFill>
                  <a:srgbClr val="6B7280"/>
                </a:solidFill>
                <a:latin typeface="Carlito"/>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999" cy="6858000"/>
          </a:xfrm>
          <a:prstGeom prst="rect">
            <a:avLst/>
          </a:prstGeom>
        </p:spPr>
      </p:pic>
      <p:pic>
        <p:nvPicPr>
          <p:cNvPr id="3" name="Picture 2" descr="image.png"/>
          <p:cNvPicPr>
            <a:picLocks noChangeAspect="1"/>
          </p:cNvPicPr>
          <p:nvPr/>
        </p:nvPicPr>
        <p:blipFill>
          <a:blip r:embed="rId3"/>
          <a:stretch>
            <a:fillRect/>
          </a:stretch>
        </p:blipFill>
        <p:spPr>
          <a:xfrm>
            <a:off x="5524499" y="6349999"/>
            <a:ext cx="1142999" cy="311149"/>
          </a:xfrm>
          <a:prstGeom prst="rect">
            <a:avLst/>
          </a:prstGeom>
        </p:spPr>
      </p:pic>
      <p:pic>
        <p:nvPicPr>
          <p:cNvPr id="4" name="Picture 3" descr="image.jpg"/>
          <p:cNvPicPr>
            <a:picLocks noChangeAspect="1"/>
          </p:cNvPicPr>
          <p:nvPr/>
        </p:nvPicPr>
        <p:blipFill>
          <a:blip r:embed="rId4"/>
          <a:stretch>
            <a:fillRect/>
          </a:stretch>
        </p:blipFill>
        <p:spPr>
          <a:xfrm>
            <a:off x="730249" y="361950"/>
            <a:ext cx="10731499" cy="755650"/>
          </a:xfrm>
          <a:prstGeom prst="rect">
            <a:avLst/>
          </a:prstGeom>
        </p:spPr>
      </p:pic>
      <p:sp>
        <p:nvSpPr>
          <p:cNvPr id="5" name="TextBox 4"/>
          <p:cNvSpPr txBox="1"/>
          <p:nvPr/>
        </p:nvSpPr>
        <p:spPr>
          <a:xfrm>
            <a:off x="609599" y="1663700"/>
            <a:ext cx="10972799" cy="965200"/>
          </a:xfrm>
          <a:prstGeom prst="rect">
            <a:avLst/>
          </a:prstGeom>
          <a:noFill/>
        </p:spPr>
        <p:txBody>
          <a:bodyPr wrap="square" lIns="45720" rIns="45720">
            <a:spAutoFit/>
          </a:bodyPr>
          <a:lstStyle/>
          <a:p>
            <a:pPr>
              <a:lnSpc>
                <a:spcPct val="150000"/>
              </a:lnSpc>
              <a:defRPr sz="2100">
                <a:solidFill>
                  <a:srgbClr val="545454"/>
                </a:solidFill>
                <a:latin typeface="Arial"/>
              </a:defRPr>
            </a:pPr>
            <a:r>
              <a:t>• Organiser une réunion de clarification des exigences avec le client.</a:t>
            </a:r>
          </a:p>
          <a:p>
            <a:pPr>
              <a:lnSpc>
                <a:spcPct val="150000"/>
              </a:lnSpc>
              <a:defRPr sz="2100">
                <a:solidFill>
                  <a:srgbClr val="545454"/>
                </a:solidFill>
                <a:latin typeface="Arial"/>
              </a:defRPr>
            </a:pPr>
            <a:r>
              <a:t>• Soumettre une proposition détaillée incluant méthodologie, livrables et budget.</a:t>
            </a:r>
          </a:p>
          <a:p>
            <a:pPr>
              <a:lnSpc>
                <a:spcPct val="150000"/>
              </a:lnSpc>
              <a:defRPr sz="2100">
                <a:solidFill>
                  <a:srgbClr val="545454"/>
                </a:solidFill>
                <a:latin typeface="Arial"/>
              </a:defRPr>
            </a:pPr>
            <a:r>
              <a:t>• Planifier le démarrage du projet et la mise en place de l’équipe.</a:t>
            </a:r>
          </a:p>
        </p:txBody>
      </p:sp>
      <p:sp>
        <p:nvSpPr>
          <p:cNvPr id="6" name="TextBox 5"/>
          <p:cNvSpPr txBox="1"/>
          <p:nvPr/>
        </p:nvSpPr>
        <p:spPr>
          <a:xfrm>
            <a:off x="654049" y="387350"/>
            <a:ext cx="11156949" cy="685800"/>
          </a:xfrm>
          <a:prstGeom prst="rect">
            <a:avLst/>
          </a:prstGeom>
          <a:noFill/>
        </p:spPr>
        <p:txBody>
          <a:bodyPr wrap="square" lIns="45720" rIns="45720">
            <a:spAutoFit/>
          </a:bodyPr>
          <a:lstStyle/>
          <a:p>
            <a:pPr algn="l">
              <a:defRPr sz="4500" b="1" i="0" u="none">
                <a:solidFill>
                  <a:srgbClr val="010B49"/>
                </a:solidFill>
                <a:latin typeface="Arial"/>
              </a:defRPr>
            </a:pPr>
            <a:r>
              <a:t>Prochaines étapes</a:t>
            </a:r>
          </a:p>
        </p:txBody>
      </p:sp>
      <p:sp>
        <p:nvSpPr>
          <p:cNvPr id="7" name="TextBox 6"/>
          <p:cNvSpPr txBox="1"/>
          <p:nvPr/>
        </p:nvSpPr>
        <p:spPr>
          <a:xfrm>
            <a:off x="11353799" y="6254750"/>
            <a:ext cx="660399" cy="527050"/>
          </a:xfrm>
          <a:prstGeom prst="rect">
            <a:avLst/>
          </a:prstGeom>
          <a:noFill/>
        </p:spPr>
        <p:txBody>
          <a:bodyPr wrap="square" lIns="45720" rIns="45720">
            <a:spAutoFit/>
          </a:bodyPr>
          <a:lstStyle/>
          <a:p>
            <a:pPr algn="r">
              <a:lnSpc>
                <a:spcPct val="120000"/>
              </a:lnSpc>
              <a:defRPr sz="3750" b="0" i="0" u="none">
                <a:solidFill>
                  <a:srgbClr val="6B7280"/>
                </a:solidFill>
                <a:latin typeface="Carlito"/>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999" cy="6858000"/>
          </a:xfrm>
          <a:prstGeom prst="rect">
            <a:avLst/>
          </a:prstGeom>
        </p:spPr>
      </p:pic>
      <p:pic>
        <p:nvPicPr>
          <p:cNvPr id="3" name="Picture 2" descr="image.png"/>
          <p:cNvPicPr>
            <a:picLocks noChangeAspect="1"/>
          </p:cNvPicPr>
          <p:nvPr/>
        </p:nvPicPr>
        <p:blipFill>
          <a:blip r:embed="rId3"/>
          <a:stretch>
            <a:fillRect/>
          </a:stretch>
        </p:blipFill>
        <p:spPr>
          <a:xfrm>
            <a:off x="571499" y="209550"/>
            <a:ext cx="2654299" cy="723900"/>
          </a:xfrm>
          <a:prstGeom prst="rect">
            <a:avLst/>
          </a:prstGeom>
        </p:spPr>
      </p:pic>
      <p:sp>
        <p:nvSpPr>
          <p:cNvPr id="4" name="TextBox 3"/>
          <p:cNvSpPr txBox="1"/>
          <p:nvPr/>
        </p:nvSpPr>
        <p:spPr>
          <a:xfrm>
            <a:off x="6877049" y="2863850"/>
            <a:ext cx="1130299" cy="279400"/>
          </a:xfrm>
          <a:prstGeom prst="rect">
            <a:avLst/>
          </a:prstGeom>
          <a:noFill/>
        </p:spPr>
        <p:txBody>
          <a:bodyPr wrap="square" lIns="45720" rIns="45720">
            <a:spAutoFit/>
          </a:bodyPr>
          <a:lstStyle/>
          <a:p>
            <a:pPr algn="l">
              <a:lnSpc>
                <a:spcPct val="120000"/>
              </a:lnSpc>
              <a:defRPr sz="1800" b="0" i="0" u="none">
                <a:solidFill>
                  <a:srgbClr val="FFFFFF"/>
                </a:solidFill>
                <a:latin typeface="Carlito"/>
              </a:defRPr>
            </a:pPr>
            <a:r>
              <a:t>Paris, France</a:t>
            </a:r>
          </a:p>
        </p:txBody>
      </p:sp>
      <p:sp>
        <p:nvSpPr>
          <p:cNvPr id="5" name="TextBox 4"/>
          <p:cNvSpPr txBox="1"/>
          <p:nvPr/>
        </p:nvSpPr>
        <p:spPr>
          <a:xfrm>
            <a:off x="6877049" y="3282950"/>
            <a:ext cx="2184399" cy="279400"/>
          </a:xfrm>
          <a:prstGeom prst="rect">
            <a:avLst/>
          </a:prstGeom>
          <a:noFill/>
        </p:spPr>
        <p:txBody>
          <a:bodyPr wrap="square" lIns="45720" rIns="45720">
            <a:spAutoFit/>
          </a:bodyPr>
          <a:lstStyle/>
          <a:p>
            <a:pPr algn="l">
              <a:lnSpc>
                <a:spcPct val="120000"/>
              </a:lnSpc>
              <a:defRPr sz="1800" b="0" i="0" u="none">
                <a:solidFill>
                  <a:srgbClr val="FFFFFF"/>
                </a:solidFill>
                <a:latin typeface="Carlito"/>
              </a:defRPr>
            </a:pPr>
            <a:r>
              <a:t>Dubaï, Émirats Arabes Unis</a:t>
            </a:r>
          </a:p>
        </p:txBody>
      </p:sp>
      <p:sp>
        <p:nvSpPr>
          <p:cNvPr id="6" name="TextBox 5"/>
          <p:cNvSpPr txBox="1"/>
          <p:nvPr/>
        </p:nvSpPr>
        <p:spPr>
          <a:xfrm>
            <a:off x="6877049" y="3702049"/>
            <a:ext cx="1168399" cy="279400"/>
          </a:xfrm>
          <a:prstGeom prst="rect">
            <a:avLst/>
          </a:prstGeom>
          <a:noFill/>
        </p:spPr>
        <p:txBody>
          <a:bodyPr wrap="square" lIns="45720" rIns="45720">
            <a:spAutoFit/>
          </a:bodyPr>
          <a:lstStyle/>
          <a:p>
            <a:pPr algn="l">
              <a:lnSpc>
                <a:spcPct val="120000"/>
              </a:lnSpc>
              <a:defRPr sz="1800" b="0" i="0" u="none">
                <a:solidFill>
                  <a:srgbClr val="FFFFFF"/>
                </a:solidFill>
                <a:latin typeface="Carlito"/>
              </a:defRPr>
            </a:pPr>
            <a:r>
              <a:t>Tunis, Tunisie</a:t>
            </a:r>
          </a:p>
        </p:txBody>
      </p:sp>
      <p:pic>
        <p:nvPicPr>
          <p:cNvPr id="7" name="Picture 6" descr="image.jpg"/>
          <p:cNvPicPr>
            <a:picLocks noChangeAspect="1"/>
          </p:cNvPicPr>
          <p:nvPr/>
        </p:nvPicPr>
        <p:blipFill>
          <a:blip r:embed="rId4"/>
          <a:stretch>
            <a:fillRect/>
          </a:stretch>
        </p:blipFill>
        <p:spPr>
          <a:xfrm>
            <a:off x="1219199" y="1060450"/>
            <a:ext cx="9753599" cy="1714500"/>
          </a:xfrm>
          <a:prstGeom prst="rect">
            <a:avLst/>
          </a:prstGeom>
        </p:spPr>
      </p:pic>
      <p:sp>
        <p:nvSpPr>
          <p:cNvPr id="8" name="TextBox 7"/>
          <p:cNvSpPr txBox="1"/>
          <p:nvPr/>
        </p:nvSpPr>
        <p:spPr>
          <a:xfrm>
            <a:off x="552449" y="1181099"/>
            <a:ext cx="11093449" cy="1447800"/>
          </a:xfrm>
          <a:prstGeom prst="rect">
            <a:avLst/>
          </a:prstGeom>
          <a:noFill/>
        </p:spPr>
        <p:txBody>
          <a:bodyPr wrap="square" lIns="45720" rIns="45720">
            <a:spAutoFit/>
          </a:bodyPr>
          <a:lstStyle/>
          <a:p>
            <a:pPr algn="ctr">
              <a:lnSpc>
                <a:spcPct val="120000"/>
              </a:lnSpc>
              <a:defRPr sz="12000" b="1" i="0" u="none">
                <a:solidFill>
                  <a:srgbClr val="010B49"/>
                </a:solidFill>
                <a:latin typeface="Arial"/>
              </a:defRPr>
            </a:pPr>
            <a:r>
              <a:t>Merci</a:t>
            </a:r>
          </a:p>
        </p:txBody>
      </p:sp>
      <p:pic>
        <p:nvPicPr>
          <p:cNvPr id="9" name="Picture 8" descr="image.jpg"/>
          <p:cNvPicPr>
            <a:picLocks noChangeAspect="1"/>
          </p:cNvPicPr>
          <p:nvPr/>
        </p:nvPicPr>
        <p:blipFill>
          <a:blip r:embed="rId4"/>
          <a:stretch>
            <a:fillRect/>
          </a:stretch>
        </p:blipFill>
        <p:spPr>
          <a:xfrm>
            <a:off x="1269999" y="2108200"/>
            <a:ext cx="9753599" cy="1714500"/>
          </a:xfrm>
          <a:prstGeom prst="rect">
            <a:avLst/>
          </a:prstGeom>
        </p:spPr>
      </p:pic>
      <p:sp>
        <p:nvSpPr>
          <p:cNvPr id="10" name="TextBox 9"/>
          <p:cNvSpPr txBox="1"/>
          <p:nvPr/>
        </p:nvSpPr>
        <p:spPr>
          <a:xfrm>
            <a:off x="603249" y="2432049"/>
            <a:ext cx="11093449" cy="1041400"/>
          </a:xfrm>
          <a:prstGeom prst="rect">
            <a:avLst/>
          </a:prstGeom>
          <a:noFill/>
        </p:spPr>
        <p:txBody>
          <a:bodyPr wrap="square" lIns="45720" rIns="45720">
            <a:spAutoFit/>
          </a:bodyPr>
          <a:lstStyle/>
          <a:p>
            <a:pPr algn="ctr">
              <a:lnSpc>
                <a:spcPct val="120000"/>
              </a:lnSpc>
              <a:defRPr sz="8025" b="0" i="0" u="none">
                <a:solidFill>
                  <a:srgbClr val="5CE6DA"/>
                </a:solidFill>
                <a:latin typeface="Arial"/>
              </a:defRPr>
            </a:pPr>
            <a:r>
              <a:t>Pour plus de détails</a:t>
            </a:r>
          </a:p>
        </p:txBody>
      </p:sp>
      <p:pic>
        <p:nvPicPr>
          <p:cNvPr id="11" name="Picture 10" descr="image.png"/>
          <p:cNvPicPr>
            <a:picLocks noChangeAspect="1"/>
          </p:cNvPicPr>
          <p:nvPr/>
        </p:nvPicPr>
        <p:blipFill>
          <a:blip r:embed="rId5"/>
          <a:stretch>
            <a:fillRect/>
          </a:stretch>
        </p:blipFill>
        <p:spPr>
          <a:xfrm>
            <a:off x="4470399" y="3536950"/>
            <a:ext cx="361949" cy="336550"/>
          </a:xfrm>
          <a:prstGeom prst="rect">
            <a:avLst/>
          </a:prstGeom>
        </p:spPr>
      </p:pic>
      <p:pic>
        <p:nvPicPr>
          <p:cNvPr id="12" name="Picture 11" descr="image.png"/>
          <p:cNvPicPr>
            <a:picLocks noChangeAspect="1"/>
          </p:cNvPicPr>
          <p:nvPr/>
        </p:nvPicPr>
        <p:blipFill>
          <a:blip r:embed="rId6"/>
          <a:stretch>
            <a:fillRect/>
          </a:stretch>
        </p:blipFill>
        <p:spPr>
          <a:xfrm>
            <a:off x="5562599" y="4451350"/>
            <a:ext cx="1022349" cy="1022350"/>
          </a:xfrm>
          <a:prstGeom prst="rect">
            <a:avLst/>
          </a:prstGeom>
        </p:spPr>
      </p:pic>
      <p:pic>
        <p:nvPicPr>
          <p:cNvPr id="13" name="Picture 12" descr="image.png"/>
          <p:cNvPicPr>
            <a:picLocks noChangeAspect="1"/>
          </p:cNvPicPr>
          <p:nvPr/>
        </p:nvPicPr>
        <p:blipFill>
          <a:blip r:embed="rId7"/>
          <a:stretch>
            <a:fillRect/>
          </a:stretch>
        </p:blipFill>
        <p:spPr>
          <a:xfrm>
            <a:off x="7550149" y="4368800"/>
            <a:ext cx="914399" cy="933449"/>
          </a:xfrm>
          <a:prstGeom prst="rect">
            <a:avLst/>
          </a:prstGeom>
        </p:spPr>
      </p:pic>
      <p:pic>
        <p:nvPicPr>
          <p:cNvPr id="14" name="Picture 13" descr="image.png"/>
          <p:cNvPicPr>
            <a:picLocks noChangeAspect="1"/>
          </p:cNvPicPr>
          <p:nvPr/>
        </p:nvPicPr>
        <p:blipFill>
          <a:blip r:embed="rId8"/>
          <a:stretch>
            <a:fillRect/>
          </a:stretch>
        </p:blipFill>
        <p:spPr>
          <a:xfrm>
            <a:off x="3702049" y="4387850"/>
            <a:ext cx="914399" cy="914400"/>
          </a:xfrm>
          <a:prstGeom prst="rect">
            <a:avLst/>
          </a:prstGeom>
        </p:spPr>
      </p:pic>
      <p:pic>
        <p:nvPicPr>
          <p:cNvPr id="15" name="Picture 14" descr="image.png"/>
          <p:cNvPicPr>
            <a:picLocks noChangeAspect="1"/>
          </p:cNvPicPr>
          <p:nvPr/>
        </p:nvPicPr>
        <p:blipFill>
          <a:blip r:embed="rId9"/>
          <a:stretch>
            <a:fillRect/>
          </a:stretch>
        </p:blipFill>
        <p:spPr>
          <a:xfrm>
            <a:off x="3746499" y="4508500"/>
            <a:ext cx="806449" cy="793749"/>
          </a:xfrm>
          <a:prstGeom prst="rect">
            <a:avLst/>
          </a:prstGeom>
        </p:spPr>
      </p:pic>
      <p:pic>
        <p:nvPicPr>
          <p:cNvPr id="16" name="Picture 15" descr="image.png"/>
          <p:cNvPicPr>
            <a:picLocks noChangeAspect="1"/>
          </p:cNvPicPr>
          <p:nvPr/>
        </p:nvPicPr>
        <p:blipFill>
          <a:blip r:embed="rId10"/>
          <a:stretch>
            <a:fillRect/>
          </a:stretch>
        </p:blipFill>
        <p:spPr>
          <a:xfrm>
            <a:off x="7550149" y="4451350"/>
            <a:ext cx="850899" cy="850899"/>
          </a:xfrm>
          <a:prstGeom prst="rect">
            <a:avLst/>
          </a:prstGeom>
        </p:spPr>
      </p:pic>
      <p:sp>
        <p:nvSpPr>
          <p:cNvPr id="17" name="TextBox 16"/>
          <p:cNvSpPr txBox="1"/>
          <p:nvPr/>
        </p:nvSpPr>
        <p:spPr>
          <a:xfrm>
            <a:off x="4914899" y="3505199"/>
            <a:ext cx="3301999" cy="469899"/>
          </a:xfrm>
          <a:prstGeom prst="rect">
            <a:avLst/>
          </a:prstGeom>
          <a:noFill/>
        </p:spPr>
        <p:txBody>
          <a:bodyPr wrap="square" lIns="45720" rIns="45720">
            <a:spAutoFit/>
          </a:bodyPr>
          <a:lstStyle/>
          <a:p>
            <a:pPr algn="l">
              <a:lnSpc>
                <a:spcPct val="120000"/>
              </a:lnSpc>
              <a:defRPr sz="4200" b="0" i="1" u="none">
                <a:solidFill>
                  <a:srgbClr val="6B7280"/>
                </a:solidFill>
                <a:latin typeface="Montserrat"/>
              </a:defRPr>
            </a:pPr>
            <a:r>
              <a:t>rh@olivesoft.fr</a:t>
            </a:r>
          </a:p>
        </p:txBody>
      </p:sp>
      <p:sp>
        <p:nvSpPr>
          <p:cNvPr id="18" name="TextBox 17"/>
          <p:cNvSpPr txBox="1"/>
          <p:nvPr/>
        </p:nvSpPr>
        <p:spPr>
          <a:xfrm>
            <a:off x="3530599" y="5270500"/>
            <a:ext cx="1250949" cy="374650"/>
          </a:xfrm>
          <a:prstGeom prst="rect">
            <a:avLst/>
          </a:prstGeom>
          <a:noFill/>
        </p:spPr>
        <p:txBody>
          <a:bodyPr wrap="square" lIns="45720" rIns="45720">
            <a:spAutoFit/>
          </a:bodyPr>
          <a:lstStyle/>
          <a:p>
            <a:pPr algn="ctr">
              <a:lnSpc>
                <a:spcPct val="120000"/>
              </a:lnSpc>
              <a:defRPr sz="2325" b="1" i="0" u="sng">
                <a:solidFill>
                  <a:srgbClr val="6B7280"/>
                </a:solidFill>
                <a:latin typeface="Arial"/>
              </a:defRPr>
            </a:pPr>
            <a:r>
              <a:t>OliveSoft</a:t>
            </a:r>
          </a:p>
        </p:txBody>
      </p:sp>
      <p:sp>
        <p:nvSpPr>
          <p:cNvPr id="19" name="TextBox 18"/>
          <p:cNvSpPr txBox="1"/>
          <p:nvPr/>
        </p:nvSpPr>
        <p:spPr>
          <a:xfrm>
            <a:off x="5340349" y="5270500"/>
            <a:ext cx="1473199" cy="374650"/>
          </a:xfrm>
          <a:prstGeom prst="rect">
            <a:avLst/>
          </a:prstGeom>
          <a:noFill/>
        </p:spPr>
        <p:txBody>
          <a:bodyPr wrap="square" lIns="45720" rIns="45720">
            <a:spAutoFit/>
          </a:bodyPr>
          <a:lstStyle/>
          <a:p>
            <a:pPr algn="ctr">
              <a:lnSpc>
                <a:spcPct val="120000"/>
              </a:lnSpc>
              <a:defRPr sz="2325" b="0" i="0" u="sng">
                <a:solidFill>
                  <a:srgbClr val="6B7280"/>
                </a:solidFill>
                <a:latin typeface="Arial"/>
              </a:defRPr>
            </a:pPr>
            <a:r>
              <a:t>olivesoft.fr</a:t>
            </a:r>
          </a:p>
        </p:txBody>
      </p:sp>
      <p:sp>
        <p:nvSpPr>
          <p:cNvPr id="20" name="TextBox 19"/>
          <p:cNvSpPr txBox="1"/>
          <p:nvPr/>
        </p:nvSpPr>
        <p:spPr>
          <a:xfrm>
            <a:off x="7423149" y="5270500"/>
            <a:ext cx="1181099" cy="374650"/>
          </a:xfrm>
          <a:prstGeom prst="rect">
            <a:avLst/>
          </a:prstGeom>
          <a:noFill/>
        </p:spPr>
        <p:txBody>
          <a:bodyPr wrap="square" lIns="45720" rIns="45720">
            <a:spAutoFit/>
          </a:bodyPr>
          <a:lstStyle/>
          <a:p>
            <a:pPr algn="ctr">
              <a:lnSpc>
                <a:spcPct val="120000"/>
              </a:lnSpc>
              <a:defRPr sz="2325" b="0" i="0" u="sng">
                <a:solidFill>
                  <a:srgbClr val="6B7280"/>
                </a:solidFill>
                <a:latin typeface="Arial"/>
              </a:defRPr>
            </a:pPr>
            <a:r>
              <a:t>OliveSoft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